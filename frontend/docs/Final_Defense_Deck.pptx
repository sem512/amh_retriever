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eecaccc-74c8-61f8-b0d2-9cea6b344498}">
          <p14:sldIdLst>
            <p14:sldId id="256"/>
            <p14:sldId id="257"/>
            <p14:sldId id="258"/>
          </p14:sldIdLst>
        </p14:section>
        <p14:section name="Team" id="{f143a1a8-8770-ab34-6c63-aab7a6cbe1c8}">
          <p14:sldIdLst>
            <p14:sldId id="259"/>
          </p14:sldIdLst>
        </p14:section>
        <p14:section name="Frontend and integration" id="{bedf3efa-93ed-a0d6-8930-c84315a899c9}">
          <p14:sldIdLst>
            <p14:sldId id="260"/>
            <p14:sldId id="261"/>
            <p14:sldId id="262"/>
            <p14:sldId id="263"/>
            <p14:sldId id="264"/>
          </p14:sldIdLst>
        </p14:section>
        <p14:section name="Evaluation" id="{6a38ac23-05c0-6d69-8729-c06f864d7856}">
          <p14:sldIdLst>
            <p14:sldId id="265"/>
            <p14:sldId id="266"/>
            <p14:sldId id="267"/>
          </p14:sldIdLst>
        </p14:section>
        <p14:section name="Closing" id="{0f89c3df-a8da-91ee-e7b9-3921c86a08e1}">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8262B"/>
                </a:solidFill>
                <a:latin typeface="+mn-lt"/>
              </a:defRPr>
            </a:pPr>
            <a:r>
              <a:rPr sz="1300" b="0" i="0" u="none" strike="noStrike">
                <a:solidFill>
                  <a:srgbClr val="18262B"/>
                </a:solidFill>
                <a:latin typeface="+mn-lt"/>
              </a:rPr>
              <a:t>End-to-end scenarios by area</a:t>
            </a:r>
          </a:p>
        </c:rich>
      </c:tx>
      <c:layout/>
      <c:overlay val="0"/>
    </c:title>
    <c:autoTitleDeleted val="0"/>
    <c:plotArea>
      <c:layout/>
      <c:barChart>
        <c:barDir val="bar"/>
        <c:grouping val="clustered"/>
        <c:varyColors val="0"/>
        <c:ser>
          <c:idx val="0"/>
          <c:order val="0"/>
          <c:tx>
            <c:strRef>
              <c:f>Sheet1!$B$1</c:f>
              <c:strCache>
                <c:ptCount val="1"/>
                <c:pt idx="0">
                  <c:v>Scenarios</c:v>
                </c:pt>
              </c:strCache>
            </c:strRef>
          </c:tx>
          <c:spPr>
            <a:solidFill>
              <a:srgbClr val="0E6A68"/>
            </a:solidFill>
            <a:effectLst/>
          </c:spPr>
          <c:invertIfNegative val="0"/>
          <c:dLbls>
            <c:numFmt formatCode="#,##0" sourceLinked="0"/>
            <c:txPr>
              <a:bodyPr/>
              <a:lstStyle/>
              <a:p>
                <a:pPr>
                  <a:defRPr b="0" i="0" strike="noStrike" sz="1200" u="none">
                    <a:solidFill>
                      <a:srgbClr val="18262B"/>
                    </a:solidFill>
                    <a:latin typeface="+mn-lt"/>
                  </a:defRPr>
                </a:pPr>
              </a:p>
            </c:txPr>
            <c:showLegendKey val="0"/>
            <c:showVal val="1"/>
            <c:showCatName val="0"/>
            <c:showSerName val="0"/>
            <c:showPercent val="0"/>
            <c:showBubbleSize val="0"/>
            <c:showLeaderLines val="0"/>
          </c:dLbls>
          <c:cat>
            <c:multiLvlStrRef>
              <c:f>Sheet1!$A$2:$A$5</c:f>
              <c:multiLvlStrCache>
                <c:ptCount val="4"/>
                <c:lvl>
                  <c:pt idx="0">
                    <c:v>Search and viewer</c:v>
                  </c:pt>
                  <c:pt idx="1">
                    <c:v>Admin and access</c:v>
                  </c:pt>
                  <c:pt idx="2">
                    <c:v>Mobile layout</c:v>
                  </c:pt>
                  <c:pt idx="3">
                    <c:v>Error-free session</c:v>
                  </c:pt>
                </c:lvl>
              </c:multiLvlStrCache>
            </c:multiLvlStrRef>
          </c:cat>
          <c:val>
            <c:numRef>
              <c:f>Sheet1!$B$2:$B$5</c:f>
              <c:numCache>
                <c:formatCode>General</c:formatCode>
                <c:ptCount val="4"/>
                <c:pt idx="0">
                  <c:v>15</c:v>
                </c:pt>
                <c:pt idx="1">
                  <c:v>12</c:v>
                </c:pt>
                <c:pt idx="2">
                  <c:v>3</c:v>
                </c:pt>
                <c:pt idx="3">
                  <c:v>1</c:v>
                </c:pt>
              </c:numCache>
            </c:numRef>
          </c:val>
        </c:ser>
        <c:dLbls>
          <c:numFmt formatCode="#,##0" sourceLinked="0"/>
          <c:txPr>
            <a:bodyPr/>
            <a:lstStyle/>
            <a:p>
              <a:pPr>
                <a:defRPr b="0" i="0" strike="noStrike" sz="1200" u="none">
                  <a:solidFill>
                    <a:srgbClr val="1826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8262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in one sentence: a web system that digitizes scanned Amharic documents and lets people search them by meaning, then shows the exact passage on the page image. The picture is the finished interface running in demo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barriers from the proposal. First, off-the-shelf OCR struggles with Ethiopic script. Second, lexical search cannot connect a query about workplace tax guidance with a document filed as income tax law. This is the example used in the proposal's background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Each stage has a named owner from the task division. Our module (Yassin) is both ends: the upload on the admin side and the viewer on the search side. Everything in between is covered by teammates in their own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division as agreed by the team. Yassin's row is highlighted because the next section covers it: wireframes, the React application, the API integration and the user acceptance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screen. The user types a question, the left list shows ranked passages with a match percentage, and the right side opens the preprocessed page image with the passage highlighted. Built with React 18, Vite and Tailwind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normalized coordinates: if the backend sent pixels, the highlight would drift when the user zooms or resizes the window. With values between 0 and 1 the same numbers work at every size. The conversion function is in src/lib/bbox.js and is covered by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Role-based access as in the proposal: public searchers can search without an account, administrators sign in to upload and delete. The admin table polls the backend while any document is queued or processing. On phones the viewer takes the whole screen with a Back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9 integration, frontend side. Semir implements these endpoints; the frontend only talks to them through one module, so any mismatch shows up in one place. The mock backend let the interface be built and tested before the real API existed. Integration against the real service is the step still to run with Semir.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interface came from analysis: use cases for the two roles, sequence diagrams for ingestion and search, an ER diagram for the data, and wireframes. All are in the annexes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18 unit tests cover the bounding-box maths, the choice of which boxes to draw, the reading of backend error messages and the search contract. The 31 end-to-end scenarios drive a real Chromium browser through search, the viewer with one or several highlight boxes, language switch, login, session expiry, upload, delete, their error cases and the phone layout, and also check that no JavaScript error appears. Both suites were re-run on the final build and passed. They run against the mock backend; re-running them against FastAPI is the integration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come straight from section 7.3 and 7.6 of the proposal. Only the frontend result is filled in because it is the only one measured so far. The amber cells must be completed with real numbers from the OCR benchmark, the retrieval benchmark and the UAT before presenting. Do not present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 contains consent forms in English and Amharic, a facilitator script, an observer sheet, the SUS in both languages and a scoring workbook with formulas. The SUS formula was checked with a worked example (answers 4,2,5,1,4,2,5,2,4,2 give 82.5). No participant data exists yet, so no result is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they come from the proposal's scope and from what the frontend does today. Each next step is a concrete extension of the existing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one-sentence value of the system, then take questions. Be ready to explain: why normalized boxes, how the mock backend works, what the e2e tests cover, and why UAT results are not shown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accent3"/>
                </a:solidFill>
              </a:rPr>
              <a:t>HiLCoE School of Computer Science  |  Senior Project 2026</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4114800" cy="19202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4114800" cy="1920240"/>
          </a:xfrm>
          <a:prstGeom prst="rect">
            <a:avLst/>
          </a:prstGeom>
          <a:noFill/>
          <a:ln/>
        </p:spPr>
        <p:txBody>
          <a:bodyPr wrap="square" lIns="0" tIns="0" rIns="0" bIns="0" rtlCol="0" anchor="t"/>
          <a:lstStyle/>
          <a:p>
            <a:pPr algn="l" indent="0" marL="0">
              <a:buNone/>
            </a:pPr>
            <a:r>
              <a:rPr lang="en-US" sz="2800" b="1" dirty="0">
                <a:solidFill>
                  <a:schemeClr val="bg1"/>
                </a:solidFill>
              </a:rPr>
              <a:t>AI-Powered Amharic Document Digitization and Semantic Retrieval System</a:t>
            </a:r>
            <a:endParaRPr lang="en-US" sz="2800" dirty="0"/>
          </a:p>
        </p:txBody>
      </p:sp>
      <p:sp>
        <p:nvSpPr>
          <p:cNvPr id="3" name="Text 1"/>
          <p:cNvSpPr txBox="1"/>
          <p:nvPr/>
        </p:nvSpPr>
        <p:spPr>
          <a:xfrm>
            <a:off x="548640" y="2880360"/>
            <a:ext cx="4114800" cy="320040"/>
          </a:xfrm>
          <a:prstGeom prst="rect">
            <a:avLst/>
          </a:prstGeom>
          <a:noFill/>
          <a:ln/>
        </p:spPr>
        <p:txBody>
          <a:bodyPr wrap="square" lIns="0" tIns="0" rIns="0" bIns="0" rtlCol="0" anchor="t"/>
          <a:lstStyle/>
          <a:p>
            <a:pPr indent="0" marL="0">
              <a:buNone/>
            </a:pPr>
            <a:r>
              <a:rPr lang="en-US" sz="1800" b="1" dirty="0">
                <a:solidFill>
                  <a:schemeClr val="accent2"/>
                </a:solidFill>
              </a:rPr>
              <a:t>Senior Project Final Defense</a:t>
            </a:r>
            <a:endParaRPr lang="en-US" sz="1800" dirty="0"/>
          </a:p>
        </p:txBody>
      </p:sp>
      <p:sp>
        <p:nvSpPr>
          <p:cNvPr id="4" name="Text 2"/>
          <p:cNvSpPr txBox="1"/>
          <p:nvPr/>
        </p:nvSpPr>
        <p:spPr>
          <a:xfrm>
            <a:off x="548640" y="3337560"/>
            <a:ext cx="4114800" cy="594360"/>
          </a:xfrm>
          <a:prstGeom prst="rect">
            <a:avLst/>
          </a:prstGeom>
          <a:noFill/>
          <a:ln/>
        </p:spPr>
        <p:txBody>
          <a:bodyPr wrap="square" lIns="0" tIns="0" rIns="0" bIns="0" rtlCol="0" anchor="t"/>
          <a:lstStyle/>
          <a:p>
            <a:pPr indent="0" marL="0">
              <a:spcAft>
                <a:spcPts val="200"/>
              </a:spcAft>
              <a:buNone/>
            </a:pPr>
            <a:r>
              <a:rPr lang="en-US" sz="1400" dirty="0">
                <a:solidFill>
                  <a:schemeClr val="bg1"/>
                </a:solidFill>
              </a:rPr>
              <a:t>Kibreab Dawit   Ferid Hamza</a:t>
            </a:r>
            <a:endParaRPr lang="en-US" sz="1400" dirty="0"/>
          </a:p>
          <a:p>
            <a:pPr indent="0" marL="0">
              <a:spcAft>
                <a:spcPts val="200"/>
              </a:spcAft>
              <a:buNone/>
            </a:pPr>
            <a:r>
              <a:rPr lang="en-US" sz="1400" dirty="0">
                <a:solidFill>
                  <a:schemeClr val="bg1"/>
                </a:solidFill>
              </a:rPr>
              <a:t>Semir Sultan   Yassin Bedru</a:t>
            </a:r>
            <a:endParaRPr lang="en-US" sz="1400" dirty="0"/>
          </a:p>
        </p:txBody>
      </p:sp>
      <p:sp>
        <p:nvSpPr>
          <p:cNvPr id="5" name="Text 3"/>
          <p:cNvSpPr txBox="1"/>
          <p:nvPr/>
        </p:nvSpPr>
        <p:spPr>
          <a:xfrm>
            <a:off x="548640" y="4206240"/>
            <a:ext cx="4114800" cy="274320"/>
          </a:xfrm>
          <a:prstGeom prst="rect">
            <a:avLst/>
          </a:prstGeom>
          <a:noFill/>
          <a:ln/>
        </p:spPr>
        <p:txBody>
          <a:bodyPr wrap="square" lIns="0" tIns="0" rIns="0" bIns="0" rtlCol="0" anchor="t"/>
          <a:lstStyle/>
          <a:p>
            <a:pPr indent="0" marL="0">
              <a:buNone/>
            </a:pPr>
            <a:r>
              <a:rPr lang="en-US" sz="1200" dirty="0">
                <a:solidFill>
                  <a:schemeClr val="bg2"/>
                </a:solidFill>
              </a:rPr>
              <a:t>HiLCoE School of Computer Science</a:t>
            </a:r>
            <a:endParaRPr lang="en-US" sz="1200" dirty="0"/>
          </a:p>
        </p:txBody>
      </p:sp>
      <p:pic>
        <p:nvPicPr>
          <p:cNvPr id="6" name="Image 0" descr="Search results beside the preprocessed page image with the matching passage highlighted">    </p:cNvPr>
          <p:cNvPicPr>
            <a:picLocks noChangeAspect="1"/>
          </p:cNvPicPr>
          <p:nvPr/>
        </p:nvPicPr>
        <p:blipFill>
          <a:blip r:embed="rId1"/>
          <a:stretch>
            <a:fillRect/>
          </a:stretch>
        </p:blipFill>
        <p:spPr>
          <a:xfrm>
            <a:off x="4937760" y="1051560"/>
            <a:ext cx="3840480" cy="2293620"/>
          </a:xfrm>
          <a:prstGeom prst="rect">
            <a:avLst/>
          </a:prstGeom>
          <a:effectLst>
            <a:outerShdw sx="100000" sy="100000" kx="0" ky="0" algn="bl" rotWithShape="0" blurRad="101600" dist="25400" dir="5400000">
              <a:srgbClr val="000000">
                <a:alpha val="18000"/>
              </a:srgbClr>
            </a:outerShdw>
          </a:effectLst>
        </p:spPr>
      </p:pic>
      <p:sp>
        <p:nvSpPr>
          <p:cNvPr id="7" name="Text 4"/>
          <p:cNvSpPr txBox="1"/>
          <p:nvPr/>
        </p:nvSpPr>
        <p:spPr>
          <a:xfrm>
            <a:off x="4937760" y="3474720"/>
            <a:ext cx="3840480" cy="457200"/>
          </a:xfrm>
          <a:prstGeom prst="rect">
            <a:avLst/>
          </a:prstGeom>
          <a:noFill/>
          <a:ln/>
        </p:spPr>
        <p:txBody>
          <a:bodyPr wrap="square" lIns="0" tIns="0" rIns="0" bIns="0" rtlCol="0" anchor="t"/>
          <a:lstStyle/>
          <a:p>
            <a:pPr indent="0" marL="0">
              <a:buNone/>
            </a:pPr>
            <a:r>
              <a:rPr lang="en-US" sz="1100" dirty="0">
                <a:solidFill>
                  <a:schemeClr val="bg2"/>
                </a:solidFill>
              </a:rPr>
              <a:t>Search results open on the page image with the passage highlighted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Scanned Amharic archives cannot be searched</a:t>
            </a:r>
            <a:endParaRPr lang="en-US" sz="3000" dirty="0"/>
          </a:p>
        </p:txBody>
      </p:sp>
      <p:sp>
        <p:nvSpPr>
          <p:cNvPr id="3" name="problem-card-1"/>
          <p:cNvSpPr/>
          <p:nvPr/>
        </p:nvSpPr>
        <p:spPr>
          <a:xfrm>
            <a:off x="457200" y="1188720"/>
            <a:ext cx="4023360" cy="1600200"/>
          </a:xfrm>
          <a:prstGeom prst="roundRect">
            <a:avLst>
              <a:gd name="adj" fmla="val 4571"/>
            </a:avLst>
          </a:prstGeom>
          <a:solidFill>
            <a:schemeClr val="bg2"/>
          </a:solidFill>
          <a:ln w="12700">
            <a:solidFill>
              <a:schemeClr val="bg2"/>
            </a:solidFill>
            <a:prstDash val="solid"/>
          </a:ln>
        </p:spPr>
      </p:sp>
      <p:sp>
        <p:nvSpPr>
          <p:cNvPr id="4" name="icon-circle"/>
          <p:cNvSpPr/>
          <p:nvPr/>
        </p:nvSpPr>
        <p:spPr>
          <a:xfrm>
            <a:off x="685800" y="1371600"/>
            <a:ext cx="457200" cy="45720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800100" y="1485900"/>
            <a:ext cx="228600" cy="228600"/>
          </a:xfrm>
          <a:prstGeom prst="rect">
            <a:avLst/>
          </a:prstGeom>
        </p:spPr>
      </p:pic>
      <p:sp>
        <p:nvSpPr>
          <p:cNvPr id="6" name="Text 3"/>
          <p:cNvSpPr txBox="1"/>
          <p:nvPr/>
        </p:nvSpPr>
        <p:spPr>
          <a:xfrm>
            <a:off x="1325880" y="1389888"/>
            <a:ext cx="2971800" cy="411480"/>
          </a:xfrm>
          <a:prstGeom prst="rect">
            <a:avLst/>
          </a:prstGeom>
          <a:noFill/>
          <a:ln/>
        </p:spPr>
        <p:txBody>
          <a:bodyPr wrap="square" lIns="0" tIns="0" rIns="0" bIns="0" rtlCol="0" anchor="ctr"/>
          <a:lstStyle/>
          <a:p>
            <a:pPr indent="0" marL="0">
              <a:buNone/>
            </a:pPr>
            <a:r>
              <a:rPr lang="en-US" sz="1800" b="1" dirty="0">
                <a:solidFill>
                  <a:schemeClr val="tx1"/>
                </a:solidFill>
              </a:rPr>
              <a:t>Raw OCR is noisy</a:t>
            </a:r>
            <a:endParaRPr lang="en-US" sz="1800" dirty="0"/>
          </a:p>
        </p:txBody>
      </p:sp>
      <p:sp>
        <p:nvSpPr>
          <p:cNvPr id="7" name="Text 4"/>
          <p:cNvSpPr txBox="1"/>
          <p:nvPr/>
        </p:nvSpPr>
        <p:spPr>
          <a:xfrm>
            <a:off x="685800" y="1965960"/>
            <a:ext cx="3611880" cy="731520"/>
          </a:xfrm>
          <a:prstGeom prst="rect">
            <a:avLst/>
          </a:prstGeom>
          <a:noFill/>
          <a:ln/>
        </p:spPr>
        <p:txBody>
          <a:bodyPr wrap="square" lIns="0" tIns="0" rIns="0" bIns="0" rtlCol="0" anchor="t"/>
          <a:lstStyle/>
          <a:p>
            <a:pPr indent="0" marL="0">
              <a:buNone/>
            </a:pPr>
            <a:r>
              <a:rPr lang="en-US" sz="1400" dirty="0">
                <a:solidFill>
                  <a:schemeClr val="tx1"/>
                </a:solidFill>
              </a:rPr>
              <a:t>Ethiopic has 300+ characters and look-alike homophones. Skew, noise and blur raise the character error rate.</a:t>
            </a:r>
            <a:endParaRPr lang="en-US" sz="1400" dirty="0"/>
          </a:p>
        </p:txBody>
      </p:sp>
      <p:sp>
        <p:nvSpPr>
          <p:cNvPr id="8" name="problem-card-2"/>
          <p:cNvSpPr/>
          <p:nvPr/>
        </p:nvSpPr>
        <p:spPr>
          <a:xfrm>
            <a:off x="4663440" y="1188720"/>
            <a:ext cx="4023360" cy="1600200"/>
          </a:xfrm>
          <a:prstGeom prst="roundRect">
            <a:avLst>
              <a:gd name="adj" fmla="val 4571"/>
            </a:avLst>
          </a:prstGeom>
          <a:solidFill>
            <a:schemeClr val="bg2"/>
          </a:solidFill>
          <a:ln w="12700">
            <a:solidFill>
              <a:schemeClr val="bg2"/>
            </a:solidFill>
            <a:prstDash val="solid"/>
          </a:ln>
        </p:spPr>
      </p:sp>
      <p:sp>
        <p:nvSpPr>
          <p:cNvPr id="9" name="icon-circle"/>
          <p:cNvSpPr/>
          <p:nvPr/>
        </p:nvSpPr>
        <p:spPr>
          <a:xfrm>
            <a:off x="4892040" y="1371600"/>
            <a:ext cx="457200" cy="457200"/>
          </a:xfrm>
          <a:prstGeom prst="ellipse">
            <a:avLst/>
          </a:prstGeom>
          <a:solidFill>
            <a:schemeClr val="accent1"/>
          </a:solidFill>
          <a:ln w="12700">
            <a:solidFill>
              <a:schemeClr val="accent1"/>
            </a:solidFill>
            <a:prstDash val="solid"/>
          </a:ln>
        </p:spPr>
      </p:sp>
      <p:pic>
        <p:nvPicPr>
          <p:cNvPr id="10" name="Image 1" descr="icon">    </p:cNvPr>
          <p:cNvPicPr>
            <a:picLocks noChangeAspect="1"/>
          </p:cNvPicPr>
          <p:nvPr/>
        </p:nvPicPr>
        <p:blipFill>
          <a:blip r:embed="rId2"/>
          <a:stretch>
            <a:fillRect/>
          </a:stretch>
        </p:blipFill>
        <p:spPr>
          <a:xfrm>
            <a:off x="5006340" y="1485900"/>
            <a:ext cx="228600" cy="228600"/>
          </a:xfrm>
          <a:prstGeom prst="rect">
            <a:avLst/>
          </a:prstGeom>
        </p:spPr>
      </p:pic>
      <p:sp>
        <p:nvSpPr>
          <p:cNvPr id="11" name="Text 7"/>
          <p:cNvSpPr txBox="1"/>
          <p:nvPr/>
        </p:nvSpPr>
        <p:spPr>
          <a:xfrm>
            <a:off x="5532120" y="1389888"/>
            <a:ext cx="2971800" cy="411480"/>
          </a:xfrm>
          <a:prstGeom prst="rect">
            <a:avLst/>
          </a:prstGeom>
          <a:noFill/>
          <a:ln/>
        </p:spPr>
        <p:txBody>
          <a:bodyPr wrap="square" lIns="0" tIns="0" rIns="0" bIns="0" rtlCol="0" anchor="ctr"/>
          <a:lstStyle/>
          <a:p>
            <a:pPr indent="0" marL="0">
              <a:buNone/>
            </a:pPr>
            <a:r>
              <a:rPr lang="en-US" sz="1800" b="1" dirty="0">
                <a:solidFill>
                  <a:schemeClr val="tx1"/>
                </a:solidFill>
              </a:rPr>
              <a:t>Keyword search misses meaning</a:t>
            </a:r>
            <a:endParaRPr lang="en-US" sz="1800" dirty="0"/>
          </a:p>
        </p:txBody>
      </p:sp>
      <p:sp>
        <p:nvSpPr>
          <p:cNvPr id="12" name="Text 8"/>
          <p:cNvSpPr txBox="1"/>
          <p:nvPr/>
        </p:nvSpPr>
        <p:spPr>
          <a:xfrm>
            <a:off x="4892040" y="1965960"/>
            <a:ext cx="3611880" cy="731520"/>
          </a:xfrm>
          <a:prstGeom prst="rect">
            <a:avLst/>
          </a:prstGeom>
          <a:noFill/>
          <a:ln/>
        </p:spPr>
        <p:txBody>
          <a:bodyPr wrap="square" lIns="0" tIns="0" rIns="0" bIns="0" rtlCol="0" anchor="t"/>
          <a:lstStyle/>
          <a:p>
            <a:pPr indent="0" marL="0">
              <a:buNone/>
            </a:pPr>
            <a:r>
              <a:rPr lang="en-US" sz="1400" dirty="0">
                <a:solidFill>
                  <a:schemeClr val="tx1"/>
                </a:solidFill>
              </a:rPr>
              <a:t>Amharic words inflect and are spelled in several ways, so exact matching returns false negatives.</a:t>
            </a:r>
            <a:endParaRPr lang="en-US" sz="1400" dirty="0"/>
          </a:p>
        </p:txBody>
      </p:sp>
      <p:sp>
        <p:nvSpPr>
          <p:cNvPr id="13" name="Text 9"/>
          <p:cNvSpPr txBox="1"/>
          <p:nvPr/>
        </p:nvSpPr>
        <p:spPr>
          <a:xfrm>
            <a:off x="457200" y="3017520"/>
            <a:ext cx="8229600" cy="320040"/>
          </a:xfrm>
          <a:prstGeom prst="rect">
            <a:avLst/>
          </a:prstGeom>
          <a:noFill/>
          <a:ln/>
        </p:spPr>
        <p:txBody>
          <a:bodyPr wrap="square" lIns="0" tIns="0" rIns="0" bIns="0" rtlCol="0" anchor="t"/>
          <a:lstStyle/>
          <a:p>
            <a:pPr indent="0" marL="0">
              <a:buNone/>
            </a:pPr>
            <a:r>
              <a:rPr lang="en-US" sz="1600" b="1" dirty="0">
                <a:solidFill>
                  <a:schemeClr val="tx1"/>
                </a:solidFill>
              </a:rPr>
              <a:t>Same meaning, no shared words</a:t>
            </a:r>
            <a:endParaRPr lang="en-US" sz="1600" dirty="0"/>
          </a:p>
        </p:txBody>
      </p:sp>
      <p:sp>
        <p:nvSpPr>
          <p:cNvPr id="14" name="query-chip"/>
          <p:cNvSpPr/>
          <p:nvPr/>
        </p:nvSpPr>
        <p:spPr>
          <a:xfrm>
            <a:off x="457200" y="3474720"/>
            <a:ext cx="3566160" cy="731520"/>
          </a:xfrm>
          <a:prstGeom prst="roundRect">
            <a:avLst>
              <a:gd name="adj" fmla="val 10000"/>
            </a:avLst>
          </a:prstGeom>
          <a:solidFill>
            <a:schemeClr val="accent4"/>
          </a:solidFill>
          <a:ln w="12700">
            <a:solidFill>
              <a:schemeClr val="accent1"/>
            </a:solidFill>
            <a:prstDash val="solid"/>
          </a:ln>
        </p:spPr>
      </p:sp>
      <p:sp>
        <p:nvSpPr>
          <p:cNvPr id="15" name="Text 11"/>
          <p:cNvSpPr txBox="1"/>
          <p:nvPr/>
        </p:nvSpPr>
        <p:spPr>
          <a:xfrm>
            <a:off x="457200" y="3474720"/>
            <a:ext cx="3566160" cy="731520"/>
          </a:xfrm>
          <a:prstGeom prst="rect">
            <a:avLst/>
          </a:prstGeom>
          <a:noFill/>
          <a:ln/>
        </p:spPr>
        <p:txBody>
          <a:bodyPr wrap="square" rtlCol="0" anchor="ctr"/>
          <a:lstStyle/>
          <a:p>
            <a:pPr algn="ctr" indent="0" marL="0">
              <a:buNone/>
            </a:pPr>
            <a:r>
              <a:rPr lang="en-US" sz="1400" b="1" dirty="0">
                <a:solidFill>
                  <a:schemeClr val="tx1"/>
                </a:solidFill>
              </a:rPr>
              <a:t>Query: </a:t>
            </a:r>
            <a:pPr algn="ctr" indent="0" marL="0">
              <a:buNone/>
            </a:pPr>
            <a:r>
              <a:rPr lang="en-US" sz="1800" dirty="0">
                <a:solidFill>
                  <a:schemeClr val="tx1"/>
                </a:solidFill>
                <a:latin typeface="Nyala" pitchFamily="34" charset="0"/>
                <a:ea typeface="Nyala" pitchFamily="34" charset="-122"/>
                <a:cs typeface="Nyala" pitchFamily="34" charset="-120"/>
              </a:rPr>
              <a:t>የስራ ግብር መመሪያ</a:t>
            </a:r>
            <a:endParaRPr lang="en-US" sz="1400" dirty="0"/>
          </a:p>
        </p:txBody>
      </p:sp>
      <p:sp>
        <p:nvSpPr>
          <p:cNvPr id="16" name="arrow"/>
          <p:cNvSpPr/>
          <p:nvPr/>
        </p:nvSpPr>
        <p:spPr>
          <a:xfrm>
            <a:off x="4160520" y="3657600"/>
            <a:ext cx="822960" cy="365760"/>
          </a:xfrm>
          <a:prstGeom prst="rightArrow">
            <a:avLst/>
          </a:prstGeom>
          <a:solidFill>
            <a:schemeClr val="accent2"/>
          </a:solidFill>
          <a:ln w="12700">
            <a:solidFill>
              <a:schemeClr val="accent2"/>
            </a:solidFill>
            <a:prstDash val="solid"/>
          </a:ln>
        </p:spPr>
      </p:sp>
      <p:sp>
        <p:nvSpPr>
          <p:cNvPr id="17" name="document-chip"/>
          <p:cNvSpPr/>
          <p:nvPr/>
        </p:nvSpPr>
        <p:spPr>
          <a:xfrm>
            <a:off x="5120640" y="3474720"/>
            <a:ext cx="3566160" cy="731520"/>
          </a:xfrm>
          <a:prstGeom prst="roundRect">
            <a:avLst>
              <a:gd name="adj" fmla="val 10000"/>
            </a:avLst>
          </a:prstGeom>
          <a:solidFill>
            <a:schemeClr val="accent4"/>
          </a:solidFill>
          <a:ln w="12700">
            <a:solidFill>
              <a:schemeClr val="accent1"/>
            </a:solidFill>
            <a:prstDash val="solid"/>
          </a:ln>
        </p:spPr>
      </p:sp>
      <p:sp>
        <p:nvSpPr>
          <p:cNvPr id="18" name="Text 14"/>
          <p:cNvSpPr txBox="1"/>
          <p:nvPr/>
        </p:nvSpPr>
        <p:spPr>
          <a:xfrm>
            <a:off x="5120640" y="3474720"/>
            <a:ext cx="3566160" cy="731520"/>
          </a:xfrm>
          <a:prstGeom prst="rect">
            <a:avLst/>
          </a:prstGeom>
          <a:noFill/>
          <a:ln/>
        </p:spPr>
        <p:txBody>
          <a:bodyPr wrap="square" rtlCol="0" anchor="ctr"/>
          <a:lstStyle/>
          <a:p>
            <a:pPr algn="ctr" indent="0" marL="0">
              <a:buNone/>
            </a:pPr>
            <a:r>
              <a:rPr lang="en-US" sz="1400" b="1" dirty="0">
                <a:solidFill>
                  <a:schemeClr val="tx1"/>
                </a:solidFill>
              </a:rPr>
              <a:t>Filed under: </a:t>
            </a:r>
            <a:pPr algn="ctr" indent="0" marL="0">
              <a:buNone/>
            </a:pPr>
            <a:r>
              <a:rPr lang="en-US" sz="1800" dirty="0">
                <a:solidFill>
                  <a:schemeClr val="tx1"/>
                </a:solidFill>
                <a:latin typeface="Nyala" pitchFamily="34" charset="0"/>
                <a:ea typeface="Nyala" pitchFamily="34" charset="-122"/>
                <a:cs typeface="Nyala" pitchFamily="34" charset="-120"/>
              </a:rPr>
              <a:t>የገቢ ግብር ሕግ</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From paper scan to highlighted passage</a:t>
            </a:r>
            <a:endParaRPr lang="en-US" sz="3000" dirty="0"/>
          </a:p>
        </p:txBody>
      </p:sp>
      <p:sp>
        <p:nvSpPr>
          <p:cNvPr id="3" name="stage-1"/>
          <p:cNvSpPr/>
          <p:nvPr/>
        </p:nvSpPr>
        <p:spPr>
          <a:xfrm>
            <a:off x="457200" y="1371600"/>
            <a:ext cx="1261872" cy="1737360"/>
          </a:xfrm>
          <a:prstGeom prst="roundRect">
            <a:avLst>
              <a:gd name="adj" fmla="val 5797"/>
            </a:avLst>
          </a:prstGeom>
          <a:solidFill>
            <a:schemeClr val="accent1"/>
          </a:solidFill>
          <a:ln w="12700">
            <a:solidFill>
              <a:schemeClr val="accent1"/>
            </a:solidFill>
            <a:prstDash val="solid"/>
          </a:ln>
          <a:effectLst>
            <a:outerShdw sx="100000" sy="100000" kx="0" ky="0" algn="bl" rotWithShape="0" blurRad="101600" dist="25400" dir="5400000">
              <a:srgbClr val="000000">
                <a:alpha val="18000"/>
              </a:srgbClr>
            </a:outerShdw>
          </a:effectLst>
        </p:spPr>
      </p:sp>
      <p:sp>
        <p:nvSpPr>
          <p:cNvPr id="4" name="Text 2"/>
          <p:cNvSpPr txBox="1"/>
          <p:nvPr/>
        </p:nvSpPr>
        <p:spPr>
          <a:xfrm>
            <a:off x="548640" y="1481328"/>
            <a:ext cx="1078992" cy="548640"/>
          </a:xfrm>
          <a:prstGeom prst="rect">
            <a:avLst/>
          </a:prstGeom>
          <a:noFill/>
          <a:ln/>
        </p:spPr>
        <p:txBody>
          <a:bodyPr wrap="square" lIns="0" tIns="0" rIns="0" bIns="0" rtlCol="0" anchor="t"/>
          <a:lstStyle/>
          <a:p>
            <a:pPr indent="0" marL="0">
              <a:buNone/>
            </a:pPr>
            <a:r>
              <a:rPr lang="en-US" sz="1500" b="1" dirty="0">
                <a:solidFill>
                  <a:schemeClr val="bg1"/>
                </a:solidFill>
              </a:rPr>
              <a:t>Upload</a:t>
            </a:r>
            <a:endParaRPr lang="en-US" sz="1500" dirty="0"/>
          </a:p>
        </p:txBody>
      </p:sp>
      <p:sp>
        <p:nvSpPr>
          <p:cNvPr id="5" name="Text 3"/>
          <p:cNvSpPr txBox="1"/>
          <p:nvPr/>
        </p:nvSpPr>
        <p:spPr>
          <a:xfrm>
            <a:off x="548640" y="2057400"/>
            <a:ext cx="1078992" cy="594360"/>
          </a:xfrm>
          <a:prstGeom prst="rect">
            <a:avLst/>
          </a:prstGeom>
          <a:noFill/>
          <a:ln/>
        </p:spPr>
        <p:txBody>
          <a:bodyPr wrap="square" lIns="0" tIns="0" rIns="0" bIns="0" rtlCol="0" anchor="t"/>
          <a:lstStyle/>
          <a:p>
            <a:pPr indent="0" marL="0">
              <a:buNone/>
            </a:pPr>
            <a:r>
              <a:rPr lang="en-US" sz="1200" dirty="0">
                <a:solidFill>
                  <a:schemeClr val="bg1"/>
                </a:solidFill>
              </a:rPr>
              <a:t>Admin adds PDF or image</a:t>
            </a:r>
            <a:endParaRPr lang="en-US" sz="1200" dirty="0"/>
          </a:p>
        </p:txBody>
      </p:sp>
      <p:sp>
        <p:nvSpPr>
          <p:cNvPr id="6" name="Text 4"/>
          <p:cNvSpPr txBox="1"/>
          <p:nvPr/>
        </p:nvSpPr>
        <p:spPr>
          <a:xfrm>
            <a:off x="548640" y="2743200"/>
            <a:ext cx="1078992" cy="274320"/>
          </a:xfrm>
          <a:prstGeom prst="rect">
            <a:avLst/>
          </a:prstGeom>
          <a:noFill/>
          <a:ln/>
        </p:spPr>
        <p:txBody>
          <a:bodyPr wrap="square" lIns="0" tIns="0" rIns="0" bIns="0" rtlCol="0" anchor="t"/>
          <a:lstStyle/>
          <a:p>
            <a:pPr indent="0" marL="0">
              <a:buNone/>
            </a:pPr>
            <a:r>
              <a:rPr lang="en-US" sz="1100" b="1" dirty="0">
                <a:solidFill>
                  <a:schemeClr val="accent2"/>
                </a:solidFill>
              </a:rPr>
              <a:t>Yassin, Semir</a:t>
            </a:r>
            <a:endParaRPr lang="en-US" sz="1100" dirty="0"/>
          </a:p>
        </p:txBody>
      </p:sp>
      <p:sp>
        <p:nvSpPr>
          <p:cNvPr id="7" name="stage-2"/>
          <p:cNvSpPr/>
          <p:nvPr/>
        </p:nvSpPr>
        <p:spPr>
          <a:xfrm>
            <a:off x="1850746" y="1371600"/>
            <a:ext cx="1261872" cy="1737360"/>
          </a:xfrm>
          <a:prstGeom prst="roundRect">
            <a:avLst>
              <a:gd name="adj" fmla="val 5797"/>
            </a:avLst>
          </a:prstGeom>
          <a:solidFill>
            <a:schemeClr val="bg2"/>
          </a:solidFill>
          <a:ln w="12700">
            <a:solidFill>
              <a:schemeClr val="bg2"/>
            </a:solidFill>
            <a:prstDash val="solid"/>
          </a:ln>
          <a:effectLst>
            <a:outerShdw sx="100000" sy="100000" kx="0" ky="0" algn="bl" rotWithShape="0" blurRad="101600" dist="25400" dir="5400000">
              <a:srgbClr val="000000">
                <a:alpha val="18000"/>
              </a:srgbClr>
            </a:outerShdw>
          </a:effectLst>
        </p:spPr>
      </p:sp>
      <p:sp>
        <p:nvSpPr>
          <p:cNvPr id="8" name="Text 6"/>
          <p:cNvSpPr txBox="1"/>
          <p:nvPr/>
        </p:nvSpPr>
        <p:spPr>
          <a:xfrm>
            <a:off x="1942186" y="1481328"/>
            <a:ext cx="1078992" cy="548640"/>
          </a:xfrm>
          <a:prstGeom prst="rect">
            <a:avLst/>
          </a:prstGeom>
          <a:noFill/>
          <a:ln/>
        </p:spPr>
        <p:txBody>
          <a:bodyPr wrap="square" lIns="0" tIns="0" rIns="0" bIns="0" rtlCol="0" anchor="t"/>
          <a:lstStyle/>
          <a:p>
            <a:pPr indent="0" marL="0">
              <a:buNone/>
            </a:pPr>
            <a:r>
              <a:rPr lang="en-US" sz="1500" b="1" dirty="0">
                <a:solidFill>
                  <a:schemeClr val="tx1"/>
                </a:solidFill>
              </a:rPr>
              <a:t>Preprocess</a:t>
            </a:r>
            <a:endParaRPr lang="en-US" sz="1500" dirty="0"/>
          </a:p>
        </p:txBody>
      </p:sp>
      <p:sp>
        <p:nvSpPr>
          <p:cNvPr id="9" name="Text 7"/>
          <p:cNvSpPr txBox="1"/>
          <p:nvPr/>
        </p:nvSpPr>
        <p:spPr>
          <a:xfrm>
            <a:off x="1942186" y="2057400"/>
            <a:ext cx="1078992" cy="594360"/>
          </a:xfrm>
          <a:prstGeom prst="rect">
            <a:avLst/>
          </a:prstGeom>
          <a:noFill/>
          <a:ln/>
        </p:spPr>
        <p:txBody>
          <a:bodyPr wrap="square" lIns="0" tIns="0" rIns="0" bIns="0" rtlCol="0" anchor="t"/>
          <a:lstStyle/>
          <a:p>
            <a:pPr indent="0" marL="0">
              <a:buNone/>
            </a:pPr>
            <a:r>
              <a:rPr lang="en-US" sz="1200" dirty="0">
                <a:solidFill>
                  <a:schemeClr val="tx1"/>
                </a:solidFill>
              </a:rPr>
              <a:t>Deskew, binarize, denoise</a:t>
            </a:r>
            <a:endParaRPr lang="en-US" sz="1200" dirty="0"/>
          </a:p>
        </p:txBody>
      </p:sp>
      <p:sp>
        <p:nvSpPr>
          <p:cNvPr id="10" name="Text 8"/>
          <p:cNvSpPr txBox="1"/>
          <p:nvPr/>
        </p:nvSpPr>
        <p:spPr>
          <a:xfrm>
            <a:off x="1942186" y="2743200"/>
            <a:ext cx="1078992" cy="274320"/>
          </a:xfrm>
          <a:prstGeom prst="rect">
            <a:avLst/>
          </a:prstGeom>
          <a:noFill/>
          <a:ln/>
        </p:spPr>
        <p:txBody>
          <a:bodyPr wrap="square" lIns="0" tIns="0" rIns="0" bIns="0" rtlCol="0" anchor="t"/>
          <a:lstStyle/>
          <a:p>
            <a:pPr indent="0" marL="0">
              <a:buNone/>
            </a:pPr>
            <a:r>
              <a:rPr lang="en-US" sz="1100" b="1" dirty="0">
                <a:solidFill>
                  <a:schemeClr val="accent3"/>
                </a:solidFill>
              </a:rPr>
              <a:t>Kibreab</a:t>
            </a:r>
            <a:endParaRPr lang="en-US" sz="1100" dirty="0"/>
          </a:p>
        </p:txBody>
      </p:sp>
      <p:sp>
        <p:nvSpPr>
          <p:cNvPr id="11" name="stage-3"/>
          <p:cNvSpPr/>
          <p:nvPr/>
        </p:nvSpPr>
        <p:spPr>
          <a:xfrm>
            <a:off x="3244291" y="1371600"/>
            <a:ext cx="1261872" cy="1737360"/>
          </a:xfrm>
          <a:prstGeom prst="roundRect">
            <a:avLst>
              <a:gd name="adj" fmla="val 5797"/>
            </a:avLst>
          </a:prstGeom>
          <a:solidFill>
            <a:schemeClr val="bg2"/>
          </a:solidFill>
          <a:ln w="12700">
            <a:solidFill>
              <a:schemeClr val="bg2"/>
            </a:solidFill>
            <a:prstDash val="solid"/>
          </a:ln>
          <a:effectLst>
            <a:outerShdw sx="100000" sy="100000" kx="0" ky="0" algn="bl" rotWithShape="0" blurRad="101600" dist="25400" dir="5400000">
              <a:srgbClr val="000000">
                <a:alpha val="18000"/>
              </a:srgbClr>
            </a:outerShdw>
          </a:effectLst>
        </p:spPr>
      </p:sp>
      <p:sp>
        <p:nvSpPr>
          <p:cNvPr id="12" name="Text 10"/>
          <p:cNvSpPr txBox="1"/>
          <p:nvPr/>
        </p:nvSpPr>
        <p:spPr>
          <a:xfrm>
            <a:off x="3335731" y="1481328"/>
            <a:ext cx="1078992" cy="548640"/>
          </a:xfrm>
          <a:prstGeom prst="rect">
            <a:avLst/>
          </a:prstGeom>
          <a:noFill/>
          <a:ln/>
        </p:spPr>
        <p:txBody>
          <a:bodyPr wrap="square" lIns="0" tIns="0" rIns="0" bIns="0" rtlCol="0" anchor="t"/>
          <a:lstStyle/>
          <a:p>
            <a:pPr indent="0" marL="0">
              <a:buNone/>
            </a:pPr>
            <a:r>
              <a:rPr lang="en-US" sz="1500" b="1" dirty="0">
                <a:solidFill>
                  <a:schemeClr val="tx1"/>
                </a:solidFill>
              </a:rPr>
              <a:t>OCR</a:t>
            </a:r>
            <a:endParaRPr lang="en-US" sz="1500" dirty="0"/>
          </a:p>
        </p:txBody>
      </p:sp>
      <p:sp>
        <p:nvSpPr>
          <p:cNvPr id="13" name="Text 11"/>
          <p:cNvSpPr txBox="1"/>
          <p:nvPr/>
        </p:nvSpPr>
        <p:spPr>
          <a:xfrm>
            <a:off x="3335731" y="2057400"/>
            <a:ext cx="1078992" cy="594360"/>
          </a:xfrm>
          <a:prstGeom prst="rect">
            <a:avLst/>
          </a:prstGeom>
          <a:noFill/>
          <a:ln/>
        </p:spPr>
        <p:txBody>
          <a:bodyPr wrap="square" lIns="0" tIns="0" rIns="0" bIns="0" rtlCol="0" anchor="t"/>
          <a:lstStyle/>
          <a:p>
            <a:pPr indent="0" marL="0">
              <a:buNone/>
            </a:pPr>
            <a:r>
              <a:rPr lang="en-US" sz="1200" dirty="0">
                <a:solidFill>
                  <a:schemeClr val="tx1"/>
                </a:solidFill>
              </a:rPr>
              <a:t>Text and word boxes</a:t>
            </a:r>
            <a:endParaRPr lang="en-US" sz="1200" dirty="0"/>
          </a:p>
        </p:txBody>
      </p:sp>
      <p:sp>
        <p:nvSpPr>
          <p:cNvPr id="14" name="Text 12"/>
          <p:cNvSpPr txBox="1"/>
          <p:nvPr/>
        </p:nvSpPr>
        <p:spPr>
          <a:xfrm>
            <a:off x="3335731" y="2743200"/>
            <a:ext cx="1078992" cy="274320"/>
          </a:xfrm>
          <a:prstGeom prst="rect">
            <a:avLst/>
          </a:prstGeom>
          <a:noFill/>
          <a:ln/>
        </p:spPr>
        <p:txBody>
          <a:bodyPr wrap="square" lIns="0" tIns="0" rIns="0" bIns="0" rtlCol="0" anchor="t"/>
          <a:lstStyle/>
          <a:p>
            <a:pPr indent="0" marL="0">
              <a:buNone/>
            </a:pPr>
            <a:r>
              <a:rPr lang="en-US" sz="1100" b="1" dirty="0">
                <a:solidFill>
                  <a:schemeClr val="accent3"/>
                </a:solidFill>
              </a:rPr>
              <a:t>Ferid, Semir</a:t>
            </a:r>
            <a:endParaRPr lang="en-US" sz="1100" dirty="0"/>
          </a:p>
        </p:txBody>
      </p:sp>
      <p:sp>
        <p:nvSpPr>
          <p:cNvPr id="15" name="stage-4"/>
          <p:cNvSpPr/>
          <p:nvPr/>
        </p:nvSpPr>
        <p:spPr>
          <a:xfrm>
            <a:off x="4637837" y="1371600"/>
            <a:ext cx="1261872" cy="1737360"/>
          </a:xfrm>
          <a:prstGeom prst="roundRect">
            <a:avLst>
              <a:gd name="adj" fmla="val 5797"/>
            </a:avLst>
          </a:prstGeom>
          <a:solidFill>
            <a:schemeClr val="bg2"/>
          </a:solidFill>
          <a:ln w="12700">
            <a:solidFill>
              <a:schemeClr val="bg2"/>
            </a:solidFill>
            <a:prstDash val="solid"/>
          </a:ln>
          <a:effectLst>
            <a:outerShdw sx="100000" sy="100000" kx="0" ky="0" algn="bl" rotWithShape="0" blurRad="101600" dist="25400" dir="5400000">
              <a:srgbClr val="000000">
                <a:alpha val="18000"/>
              </a:srgbClr>
            </a:outerShdw>
          </a:effectLst>
        </p:spPr>
      </p:sp>
      <p:sp>
        <p:nvSpPr>
          <p:cNvPr id="16" name="Text 14"/>
          <p:cNvSpPr txBox="1"/>
          <p:nvPr/>
        </p:nvSpPr>
        <p:spPr>
          <a:xfrm>
            <a:off x="4729277" y="1481328"/>
            <a:ext cx="1078992" cy="548640"/>
          </a:xfrm>
          <a:prstGeom prst="rect">
            <a:avLst/>
          </a:prstGeom>
          <a:noFill/>
          <a:ln/>
        </p:spPr>
        <p:txBody>
          <a:bodyPr wrap="square" lIns="0" tIns="0" rIns="0" bIns="0" rtlCol="0" anchor="t"/>
          <a:lstStyle/>
          <a:p>
            <a:pPr indent="0" marL="0">
              <a:buNone/>
            </a:pPr>
            <a:r>
              <a:rPr lang="en-US" sz="1500" b="1" dirty="0">
                <a:solidFill>
                  <a:schemeClr val="tx1"/>
                </a:solidFill>
              </a:rPr>
              <a:t>Normalize</a:t>
            </a:r>
            <a:endParaRPr lang="en-US" sz="1500" dirty="0"/>
          </a:p>
        </p:txBody>
      </p:sp>
      <p:sp>
        <p:nvSpPr>
          <p:cNvPr id="17" name="Text 15"/>
          <p:cNvSpPr txBox="1"/>
          <p:nvPr/>
        </p:nvSpPr>
        <p:spPr>
          <a:xfrm>
            <a:off x="4729277" y="2057400"/>
            <a:ext cx="1078992" cy="594360"/>
          </a:xfrm>
          <a:prstGeom prst="rect">
            <a:avLst/>
          </a:prstGeom>
          <a:noFill/>
          <a:ln/>
        </p:spPr>
        <p:txBody>
          <a:bodyPr wrap="square" lIns="0" tIns="0" rIns="0" bIns="0" rtlCol="0" anchor="t"/>
          <a:lstStyle/>
          <a:p>
            <a:pPr indent="0" marL="0">
              <a:buNone/>
            </a:pPr>
            <a:r>
              <a:rPr lang="en-US" sz="1200" dirty="0">
                <a:solidFill>
                  <a:schemeClr val="tx1"/>
                </a:solidFill>
              </a:rPr>
              <a:t>Unify homophones, chunk</a:t>
            </a:r>
            <a:endParaRPr lang="en-US" sz="1200" dirty="0"/>
          </a:p>
        </p:txBody>
      </p:sp>
      <p:sp>
        <p:nvSpPr>
          <p:cNvPr id="18" name="Text 16"/>
          <p:cNvSpPr txBox="1"/>
          <p:nvPr/>
        </p:nvSpPr>
        <p:spPr>
          <a:xfrm>
            <a:off x="4729277" y="2743200"/>
            <a:ext cx="1078992" cy="274320"/>
          </a:xfrm>
          <a:prstGeom prst="rect">
            <a:avLst/>
          </a:prstGeom>
          <a:noFill/>
          <a:ln/>
        </p:spPr>
        <p:txBody>
          <a:bodyPr wrap="square" lIns="0" tIns="0" rIns="0" bIns="0" rtlCol="0" anchor="t"/>
          <a:lstStyle/>
          <a:p>
            <a:pPr indent="0" marL="0">
              <a:buNone/>
            </a:pPr>
            <a:r>
              <a:rPr lang="en-US" sz="1100" b="1" dirty="0">
                <a:solidFill>
                  <a:schemeClr val="accent3"/>
                </a:solidFill>
              </a:rPr>
              <a:t>Ferid</a:t>
            </a:r>
            <a:endParaRPr lang="en-US" sz="1100" dirty="0"/>
          </a:p>
        </p:txBody>
      </p:sp>
      <p:sp>
        <p:nvSpPr>
          <p:cNvPr id="19" name="stage-5"/>
          <p:cNvSpPr/>
          <p:nvPr/>
        </p:nvSpPr>
        <p:spPr>
          <a:xfrm>
            <a:off x="6031382" y="1371600"/>
            <a:ext cx="1261872" cy="1737360"/>
          </a:xfrm>
          <a:prstGeom prst="roundRect">
            <a:avLst>
              <a:gd name="adj" fmla="val 5797"/>
            </a:avLst>
          </a:prstGeom>
          <a:solidFill>
            <a:schemeClr val="bg2"/>
          </a:solidFill>
          <a:ln w="12700">
            <a:solidFill>
              <a:schemeClr val="bg2"/>
            </a:solidFill>
            <a:prstDash val="solid"/>
          </a:ln>
          <a:effectLst>
            <a:outerShdw sx="100000" sy="100000" kx="0" ky="0" algn="bl" rotWithShape="0" blurRad="101600" dist="25400" dir="5400000">
              <a:srgbClr val="000000">
                <a:alpha val="18000"/>
              </a:srgbClr>
            </a:outerShdw>
          </a:effectLst>
        </p:spPr>
      </p:sp>
      <p:sp>
        <p:nvSpPr>
          <p:cNvPr id="20" name="Text 18"/>
          <p:cNvSpPr txBox="1"/>
          <p:nvPr/>
        </p:nvSpPr>
        <p:spPr>
          <a:xfrm>
            <a:off x="6122822" y="1481328"/>
            <a:ext cx="1078992" cy="548640"/>
          </a:xfrm>
          <a:prstGeom prst="rect">
            <a:avLst/>
          </a:prstGeom>
          <a:noFill/>
          <a:ln/>
        </p:spPr>
        <p:txBody>
          <a:bodyPr wrap="square" lIns="0" tIns="0" rIns="0" bIns="0" rtlCol="0" anchor="t"/>
          <a:lstStyle/>
          <a:p>
            <a:pPr indent="0" marL="0">
              <a:buNone/>
            </a:pPr>
            <a:r>
              <a:rPr lang="en-US" sz="1500" b="1" dirty="0">
                <a:solidFill>
                  <a:schemeClr val="tx1"/>
                </a:solidFill>
              </a:rPr>
              <a:t>Index and search</a:t>
            </a:r>
            <a:endParaRPr lang="en-US" sz="1500" dirty="0"/>
          </a:p>
        </p:txBody>
      </p:sp>
      <p:sp>
        <p:nvSpPr>
          <p:cNvPr id="21" name="Text 19"/>
          <p:cNvSpPr txBox="1"/>
          <p:nvPr/>
        </p:nvSpPr>
        <p:spPr>
          <a:xfrm>
            <a:off x="6122822" y="2057400"/>
            <a:ext cx="1078992" cy="594360"/>
          </a:xfrm>
          <a:prstGeom prst="rect">
            <a:avLst/>
          </a:prstGeom>
          <a:noFill/>
          <a:ln/>
        </p:spPr>
        <p:txBody>
          <a:bodyPr wrap="square" lIns="0" tIns="0" rIns="0" bIns="0" rtlCol="0" anchor="t"/>
          <a:lstStyle/>
          <a:p>
            <a:pPr indent="0" marL="0">
              <a:buNone/>
            </a:pPr>
            <a:r>
              <a:rPr lang="en-US" sz="1200" dirty="0">
                <a:solidFill>
                  <a:schemeClr val="tx1"/>
                </a:solidFill>
              </a:rPr>
              <a:t>bge-m3 + BM25, ChromaDB</a:t>
            </a:r>
            <a:endParaRPr lang="en-US" sz="1200" dirty="0"/>
          </a:p>
        </p:txBody>
      </p:sp>
      <p:sp>
        <p:nvSpPr>
          <p:cNvPr id="22" name="Text 20"/>
          <p:cNvSpPr txBox="1"/>
          <p:nvPr/>
        </p:nvSpPr>
        <p:spPr>
          <a:xfrm>
            <a:off x="6122822" y="2743200"/>
            <a:ext cx="1078992" cy="274320"/>
          </a:xfrm>
          <a:prstGeom prst="rect">
            <a:avLst/>
          </a:prstGeom>
          <a:noFill/>
          <a:ln/>
        </p:spPr>
        <p:txBody>
          <a:bodyPr wrap="square" lIns="0" tIns="0" rIns="0" bIns="0" rtlCol="0" anchor="t"/>
          <a:lstStyle/>
          <a:p>
            <a:pPr indent="0" marL="0">
              <a:buNone/>
            </a:pPr>
            <a:r>
              <a:rPr lang="en-US" sz="1100" b="1" dirty="0">
                <a:solidFill>
                  <a:schemeClr val="accent3"/>
                </a:solidFill>
              </a:rPr>
              <a:t>Kibreab, Semir</a:t>
            </a:r>
            <a:endParaRPr lang="en-US" sz="1100" dirty="0"/>
          </a:p>
        </p:txBody>
      </p:sp>
      <p:sp>
        <p:nvSpPr>
          <p:cNvPr id="23" name="stage-6"/>
          <p:cNvSpPr/>
          <p:nvPr/>
        </p:nvSpPr>
        <p:spPr>
          <a:xfrm>
            <a:off x="7424928" y="1371600"/>
            <a:ext cx="1261872" cy="1737360"/>
          </a:xfrm>
          <a:prstGeom prst="roundRect">
            <a:avLst>
              <a:gd name="adj" fmla="val 5797"/>
            </a:avLst>
          </a:prstGeom>
          <a:solidFill>
            <a:schemeClr val="accent1"/>
          </a:solidFill>
          <a:ln w="12700">
            <a:solidFill>
              <a:schemeClr val="accent1"/>
            </a:solidFill>
            <a:prstDash val="solid"/>
          </a:ln>
          <a:effectLst>
            <a:outerShdw sx="100000" sy="100000" kx="0" ky="0" algn="bl" rotWithShape="0" blurRad="101600" dist="25400" dir="5400000">
              <a:srgbClr val="000000">
                <a:alpha val="18000"/>
              </a:srgbClr>
            </a:outerShdw>
          </a:effectLst>
        </p:spPr>
      </p:sp>
      <p:sp>
        <p:nvSpPr>
          <p:cNvPr id="24" name="Text 22"/>
          <p:cNvSpPr txBox="1"/>
          <p:nvPr/>
        </p:nvSpPr>
        <p:spPr>
          <a:xfrm>
            <a:off x="7516368" y="1481328"/>
            <a:ext cx="1078992" cy="548640"/>
          </a:xfrm>
          <a:prstGeom prst="rect">
            <a:avLst/>
          </a:prstGeom>
          <a:noFill/>
          <a:ln/>
        </p:spPr>
        <p:txBody>
          <a:bodyPr wrap="square" lIns="0" tIns="0" rIns="0" bIns="0" rtlCol="0" anchor="t"/>
          <a:lstStyle/>
          <a:p>
            <a:pPr indent="0" marL="0">
              <a:buNone/>
            </a:pPr>
            <a:r>
              <a:rPr lang="en-US" sz="1500" b="1" dirty="0">
                <a:solidFill>
                  <a:schemeClr val="bg1"/>
                </a:solidFill>
              </a:rPr>
              <a:t>Viewer</a:t>
            </a:r>
            <a:endParaRPr lang="en-US" sz="1500" dirty="0"/>
          </a:p>
        </p:txBody>
      </p:sp>
      <p:sp>
        <p:nvSpPr>
          <p:cNvPr id="25" name="Text 23"/>
          <p:cNvSpPr txBox="1"/>
          <p:nvPr/>
        </p:nvSpPr>
        <p:spPr>
          <a:xfrm>
            <a:off x="7516368" y="2057400"/>
            <a:ext cx="1078992" cy="594360"/>
          </a:xfrm>
          <a:prstGeom prst="rect">
            <a:avLst/>
          </a:prstGeom>
          <a:noFill/>
          <a:ln/>
        </p:spPr>
        <p:txBody>
          <a:bodyPr wrap="square" lIns="0" tIns="0" rIns="0" bIns="0" rtlCol="0" anchor="t"/>
          <a:lstStyle/>
          <a:p>
            <a:pPr indent="0" marL="0">
              <a:buNone/>
            </a:pPr>
            <a:r>
              <a:rPr lang="en-US" sz="1200" dirty="0">
                <a:solidFill>
                  <a:schemeClr val="bg1"/>
                </a:solidFill>
              </a:rPr>
              <a:t>Results with highlight</a:t>
            </a:r>
            <a:endParaRPr lang="en-US" sz="1200" dirty="0"/>
          </a:p>
        </p:txBody>
      </p:sp>
      <p:sp>
        <p:nvSpPr>
          <p:cNvPr id="26" name="Text 24"/>
          <p:cNvSpPr txBox="1"/>
          <p:nvPr/>
        </p:nvSpPr>
        <p:spPr>
          <a:xfrm>
            <a:off x="7516368" y="2743200"/>
            <a:ext cx="1078992" cy="274320"/>
          </a:xfrm>
          <a:prstGeom prst="rect">
            <a:avLst/>
          </a:prstGeom>
          <a:noFill/>
          <a:ln/>
        </p:spPr>
        <p:txBody>
          <a:bodyPr wrap="square" lIns="0" tIns="0" rIns="0" bIns="0" rtlCol="0" anchor="t"/>
          <a:lstStyle/>
          <a:p>
            <a:pPr indent="0" marL="0">
              <a:buNone/>
            </a:pPr>
            <a:r>
              <a:rPr lang="en-US" sz="1100" b="1" dirty="0">
                <a:solidFill>
                  <a:schemeClr val="accent2"/>
                </a:solidFill>
              </a:rPr>
              <a:t>Yassin</a:t>
            </a:r>
            <a:endParaRPr lang="en-US" sz="1100" dirty="0"/>
          </a:p>
        </p:txBody>
      </p:sp>
      <p:sp>
        <p:nvSpPr>
          <p:cNvPr id="27" name="Text 25"/>
          <p:cNvSpPr txBox="1"/>
          <p:nvPr/>
        </p:nvSpPr>
        <p:spPr>
          <a:xfrm>
            <a:off x="457200" y="3429000"/>
            <a:ext cx="8229600" cy="640080"/>
          </a:xfrm>
          <a:prstGeom prst="rect">
            <a:avLst/>
          </a:prstGeom>
          <a:noFill/>
          <a:ln/>
        </p:spPr>
        <p:txBody>
          <a:bodyPr wrap="square" lIns="0" tIns="0" rIns="0" bIns="0" rtlCol="0" anchor="t"/>
          <a:lstStyle/>
          <a:p>
            <a:pPr indent="0" marL="0">
              <a:buNone/>
            </a:pPr>
            <a:r>
              <a:rPr lang="en-US" sz="1600" dirty="0">
                <a:solidFill>
                  <a:schemeClr val="tx1"/>
                </a:solidFill>
              </a:rPr>
              <a:t>Built entirely with open-source tools: React, FastAPI, OpenCV, Tesseract, bge-m3 and ChromaDB. Cost: $0.</a:t>
            </a:r>
            <a:endParaRPr lang="en-US" sz="1600" dirty="0"/>
          </a:p>
        </p:txBody>
      </p:sp>
      <p:sp>
        <p:nvSpPr>
          <p:cNvPr id="28" name="Text 26"/>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dirty="0">
                <a:solidFill>
                  <a:schemeClr val="accent3"/>
                </a:solidFill>
              </a:rPr>
              <a:t>Highlighted stages are the frontend and integration module presented in detail next.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Who built what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2468880"/>
                <a:gridCol w="4297680"/>
              </a:tblGrid>
              <a:tr h="0">
                <a:tc>
                  <a:txBody>
                    <a:bodyPr/>
                    <a:lstStyle/>
                    <a:p>
                      <a:pPr indent="0" marL="0">
                        <a:buNone/>
                      </a:pPr>
                      <a:r>
                        <a:rPr lang="en-US" sz="1300" b="1" dirty="0">
                          <a:solidFill>
                            <a:srgbClr val="FFFFFF"/>
                          </a:solidFill>
                        </a:rPr>
                        <a:t>Member</a:t>
                      </a:r>
                      <a:endParaRPr lang="en-US" sz="13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0E6A68"/>
                    </a:solidFill>
                  </a:tcPr>
                </a:tc>
                <a:tc>
                  <a:txBody>
                    <a:bodyPr/>
                    <a:lstStyle/>
                    <a:p>
                      <a:pPr indent="0" marL="0">
                        <a:buNone/>
                      </a:pPr>
                      <a:r>
                        <a:rPr lang="en-US" sz="1300" b="1" dirty="0">
                          <a:solidFill>
                            <a:srgbClr val="FFFFFF"/>
                          </a:solidFill>
                        </a:rPr>
                        <a:t>Owns</a:t>
                      </a:r>
                      <a:endParaRPr lang="en-US" sz="13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0E6A68"/>
                    </a:solidFill>
                  </a:tcPr>
                </a:tc>
                <a:tc>
                  <a:txBody>
                    <a:bodyPr/>
                    <a:lstStyle/>
                    <a:p>
                      <a:pPr indent="0" marL="0">
                        <a:buNone/>
                      </a:pPr>
                      <a:r>
                        <a:rPr lang="en-US" sz="1300" b="1" dirty="0">
                          <a:solidFill>
                            <a:srgbClr val="FFFFFF"/>
                          </a:solidFill>
                        </a:rPr>
                        <a:t>Tasks</a:t>
                      </a:r>
                      <a:endParaRPr lang="en-US" sz="13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0E6A68"/>
                    </a:solidFill>
                  </a:tcPr>
                </a:tc>
              </a:tr>
              <a:tr h="0">
                <a:tc>
                  <a:txBody>
                    <a:bodyPr/>
                    <a:lstStyle/>
                    <a:p>
                      <a:pPr indent="0" marL="0">
                        <a:buNone/>
                      </a:pPr>
                      <a:r>
                        <a:rPr lang="en-US" sz="1200" b="1" dirty="0">
                          <a:solidFill>
                            <a:srgbClr val="18262B"/>
                          </a:solidFill>
                        </a:rPr>
                        <a:t>Kibreab Dawit</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Preprocessing, embedding and hybrid search</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1 corpus curation, 4 OpenCV preprocessing, 8 embedding and hybrid search</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8262B"/>
                          </a:solidFill>
                        </a:rPr>
                        <a:t>Ferid Hamza</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OCR (co-owner), normalization</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5 OCR integration (with Semir), 6 Amharic text normalizer</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8262B"/>
                          </a:solidFill>
                        </a:rPr>
                        <a:t>Semir Sultan</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Backend, OCR (co-owner)</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7 database and ChromaDB setup, 5 OCR integration, 9 API design and auth</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8262B"/>
                          </a:solidFill>
                        </a:rPr>
                        <a:t>Yassin Bedru</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4CC"/>
                    </a:solidFill>
                  </a:tcPr>
                </a:tc>
                <a:tc>
                  <a:txBody>
                    <a:bodyPr/>
                    <a:lstStyle/>
                    <a:p>
                      <a:pPr indent="0" marL="0">
                        <a:buNone/>
                      </a:pPr>
                      <a:r>
                        <a:rPr lang="en-US" sz="1200" dirty="0">
                          <a:solidFill>
                            <a:srgbClr val="18262B"/>
                          </a:solidFill>
                        </a:rPr>
                        <a:t>Frontend, integration, UAT</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4CC"/>
                    </a:solidFill>
                  </a:tcPr>
                </a:tc>
                <a:tc>
                  <a:txBody>
                    <a:bodyPr/>
                    <a:lstStyle/>
                    <a:p>
                      <a:pPr indent="0" marL="0">
                        <a:buNone/>
                      </a:pPr>
                      <a:r>
                        <a:rPr lang="en-US" sz="1200" dirty="0">
                          <a:solidFill>
                            <a:srgbClr val="18262B"/>
                          </a:solidFill>
                        </a:rPr>
                        <a:t>3 wireframes, 10 React app, viewer and bounding-box overlay, 9 API integration (with Semir), 11 UAT</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4CC"/>
                    </a:solidFill>
                  </a:tcPr>
                </a:tc>
              </a:tr>
            </a:tbl>
          </a:graphicData>
        </a:graphic>
      </p:graphicFrame>
      <p:sp>
        <p:nvSpPr>
          <p:cNvPr id="4" name="Text 1"/>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300" dirty="0">
                <a:solidFill>
                  <a:schemeClr val="accent3"/>
                </a:solidFill>
              </a:rPr>
              <a:t>Shared: Task 2 requirements and UML (everyone), Task 11 testing (each tests their module), Task 12 documentation (each writes a chapter).</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Search in Amharic, see the passage on the page</a:t>
            </a:r>
            <a:endParaRPr lang="en-US" sz="3000" dirty="0"/>
          </a:p>
        </p:txBody>
      </p:sp>
      <p:pic>
        <p:nvPicPr>
          <p:cNvPr id="3" name="Image 0" descr="Desktop interface: result list on the left, page viewer with highlighted passage on the right">    </p:cNvPr>
          <p:cNvPicPr>
            <a:picLocks noChangeAspect="1"/>
          </p:cNvPicPr>
          <p:nvPr/>
        </p:nvPicPr>
        <p:blipFill>
          <a:blip r:embed="rId1"/>
          <a:stretch>
            <a:fillRect/>
          </a:stretch>
        </p:blipFill>
        <p:spPr>
          <a:xfrm>
            <a:off x="457200" y="1188720"/>
            <a:ext cx="5120640" cy="3058160"/>
          </a:xfrm>
          <a:prstGeom prst="rect">
            <a:avLst/>
          </a:prstGeom>
          <a:effectLst>
            <a:outerShdw sx="100000" sy="100000" kx="0" ky="0" algn="bl" rotWithShape="0" blurRad="101600" dist="25400" dir="5400000">
              <a:srgbClr val="000000">
                <a:alpha val="18000"/>
              </a:srgbClr>
            </a:outerShdw>
          </a:effectLst>
        </p:spPr>
      </p:pic>
      <p:sp>
        <p:nvSpPr>
          <p:cNvPr id="4" name="icon-circle"/>
          <p:cNvSpPr/>
          <p:nvPr/>
        </p:nvSpPr>
        <p:spPr>
          <a:xfrm>
            <a:off x="5852160" y="1188720"/>
            <a:ext cx="457200" cy="457200"/>
          </a:xfrm>
          <a:prstGeom prst="ellipse">
            <a:avLst/>
          </a:prstGeom>
          <a:solidFill>
            <a:schemeClr val="accent1"/>
          </a:solidFill>
          <a:ln w="12700">
            <a:solidFill>
              <a:schemeClr val="accent1"/>
            </a:solidFill>
            <a:prstDash val="solid"/>
          </a:ln>
        </p:spPr>
      </p:sp>
      <p:pic>
        <p:nvPicPr>
          <p:cNvPr id="5" name="Image 1" descr="icon">    </p:cNvPr>
          <p:cNvPicPr>
            <a:picLocks noChangeAspect="1"/>
          </p:cNvPicPr>
          <p:nvPr/>
        </p:nvPicPr>
        <p:blipFill>
          <a:blip r:embed="rId2"/>
          <a:stretch>
            <a:fillRect/>
          </a:stretch>
        </p:blipFill>
        <p:spPr>
          <a:xfrm>
            <a:off x="5966460" y="1303020"/>
            <a:ext cx="228600" cy="228600"/>
          </a:xfrm>
          <a:prstGeom prst="rect">
            <a:avLst/>
          </a:prstGeom>
        </p:spPr>
      </p:pic>
      <p:sp>
        <p:nvSpPr>
          <p:cNvPr id="6" name="Text 2"/>
          <p:cNvSpPr txBox="1"/>
          <p:nvPr/>
        </p:nvSpPr>
        <p:spPr>
          <a:xfrm>
            <a:off x="6446520" y="1170432"/>
            <a:ext cx="2240280" cy="274320"/>
          </a:xfrm>
          <a:prstGeom prst="rect">
            <a:avLst/>
          </a:prstGeom>
          <a:noFill/>
          <a:ln/>
        </p:spPr>
        <p:txBody>
          <a:bodyPr wrap="square" lIns="0" tIns="0" rIns="0" bIns="0" rtlCol="0" anchor="t"/>
          <a:lstStyle/>
          <a:p>
            <a:pPr indent="0" marL="0">
              <a:buNone/>
            </a:pPr>
            <a:r>
              <a:rPr lang="en-US" sz="1600" b="1" dirty="0">
                <a:solidFill>
                  <a:schemeClr val="tx1"/>
                </a:solidFill>
              </a:rPr>
              <a:t>Ranked results</a:t>
            </a:r>
            <a:endParaRPr lang="en-US" sz="1600" dirty="0"/>
          </a:p>
        </p:txBody>
      </p:sp>
      <p:sp>
        <p:nvSpPr>
          <p:cNvPr id="7" name="Text 3"/>
          <p:cNvSpPr txBox="1"/>
          <p:nvPr/>
        </p:nvSpPr>
        <p:spPr>
          <a:xfrm>
            <a:off x="6446520" y="1481328"/>
            <a:ext cx="2240280" cy="640080"/>
          </a:xfrm>
          <a:prstGeom prst="rect">
            <a:avLst/>
          </a:prstGeom>
          <a:noFill/>
          <a:ln/>
        </p:spPr>
        <p:txBody>
          <a:bodyPr wrap="square" lIns="0" tIns="0" rIns="0" bIns="0" rtlCol="0" anchor="t"/>
          <a:lstStyle/>
          <a:p>
            <a:pPr indent="0" marL="0">
              <a:buNone/>
            </a:pPr>
            <a:r>
              <a:rPr lang="en-US" sz="1200" dirty="0">
                <a:solidFill>
                  <a:schemeClr val="tx1"/>
                </a:solidFill>
              </a:rPr>
              <a:t>Natural-language query, match score and snippet for each passage</a:t>
            </a:r>
            <a:endParaRPr lang="en-US" sz="1200" dirty="0"/>
          </a:p>
        </p:txBody>
      </p:sp>
      <p:sp>
        <p:nvSpPr>
          <p:cNvPr id="8" name="icon-circle"/>
          <p:cNvSpPr/>
          <p:nvPr/>
        </p:nvSpPr>
        <p:spPr>
          <a:xfrm>
            <a:off x="5852160" y="2212848"/>
            <a:ext cx="457200" cy="457200"/>
          </a:xfrm>
          <a:prstGeom prst="ellipse">
            <a:avLst/>
          </a:prstGeom>
          <a:solidFill>
            <a:schemeClr val="accent1"/>
          </a:solidFill>
          <a:ln w="12700">
            <a:solidFill>
              <a:schemeClr val="accent1"/>
            </a:solidFill>
            <a:prstDash val="solid"/>
          </a:ln>
        </p:spPr>
      </p:sp>
      <p:pic>
        <p:nvPicPr>
          <p:cNvPr id="9" name="Image 2" descr="icon">    </p:cNvPr>
          <p:cNvPicPr>
            <a:picLocks noChangeAspect="1"/>
          </p:cNvPicPr>
          <p:nvPr/>
        </p:nvPicPr>
        <p:blipFill>
          <a:blip r:embed="rId3"/>
          <a:stretch>
            <a:fillRect/>
          </a:stretch>
        </p:blipFill>
        <p:spPr>
          <a:xfrm>
            <a:off x="5966460" y="2327148"/>
            <a:ext cx="228600" cy="228600"/>
          </a:xfrm>
          <a:prstGeom prst="rect">
            <a:avLst/>
          </a:prstGeom>
        </p:spPr>
      </p:pic>
      <p:sp>
        <p:nvSpPr>
          <p:cNvPr id="10" name="Text 5"/>
          <p:cNvSpPr txBox="1"/>
          <p:nvPr/>
        </p:nvSpPr>
        <p:spPr>
          <a:xfrm>
            <a:off x="6446520" y="2194560"/>
            <a:ext cx="2240280" cy="274320"/>
          </a:xfrm>
          <a:prstGeom prst="rect">
            <a:avLst/>
          </a:prstGeom>
          <a:noFill/>
          <a:ln/>
        </p:spPr>
        <p:txBody>
          <a:bodyPr wrap="square" lIns="0" tIns="0" rIns="0" bIns="0" rtlCol="0" anchor="t"/>
          <a:lstStyle/>
          <a:p>
            <a:pPr indent="0" marL="0">
              <a:buNone/>
            </a:pPr>
            <a:r>
              <a:rPr lang="en-US" sz="1600" b="1" dirty="0">
                <a:solidFill>
                  <a:schemeClr val="tx1"/>
                </a:solidFill>
              </a:rPr>
              <a:t>Page viewer</a:t>
            </a:r>
            <a:endParaRPr lang="en-US" sz="1600" dirty="0"/>
          </a:p>
        </p:txBody>
      </p:sp>
      <p:sp>
        <p:nvSpPr>
          <p:cNvPr id="11" name="Text 6"/>
          <p:cNvSpPr txBox="1"/>
          <p:nvPr/>
        </p:nvSpPr>
        <p:spPr>
          <a:xfrm>
            <a:off x="6446520" y="2505456"/>
            <a:ext cx="2240280" cy="640080"/>
          </a:xfrm>
          <a:prstGeom prst="rect">
            <a:avLst/>
          </a:prstGeom>
          <a:noFill/>
          <a:ln/>
        </p:spPr>
        <p:txBody>
          <a:bodyPr wrap="square" lIns="0" tIns="0" rIns="0" bIns="0" rtlCol="0" anchor="t"/>
          <a:lstStyle/>
          <a:p>
            <a:pPr indent="0" marL="0">
              <a:buNone/>
            </a:pPr>
            <a:r>
              <a:rPr lang="en-US" sz="1200" dirty="0">
                <a:solidFill>
                  <a:schemeClr val="tx1"/>
                </a:solidFill>
              </a:rPr>
              <a:t>Preprocessed page image with highlight boxes, zoom, page and result navigation</a:t>
            </a:r>
            <a:endParaRPr lang="en-US" sz="1200" dirty="0"/>
          </a:p>
        </p:txBody>
      </p:sp>
      <p:sp>
        <p:nvSpPr>
          <p:cNvPr id="12" name="icon-circle"/>
          <p:cNvSpPr/>
          <p:nvPr/>
        </p:nvSpPr>
        <p:spPr>
          <a:xfrm>
            <a:off x="5852160" y="3236976"/>
            <a:ext cx="457200" cy="457200"/>
          </a:xfrm>
          <a:prstGeom prst="ellipse">
            <a:avLst/>
          </a:prstGeom>
          <a:solidFill>
            <a:schemeClr val="accent1"/>
          </a:solidFill>
          <a:ln w="12700">
            <a:solidFill>
              <a:schemeClr val="accent1"/>
            </a:solidFill>
            <a:prstDash val="solid"/>
          </a:ln>
        </p:spPr>
      </p:sp>
      <p:pic>
        <p:nvPicPr>
          <p:cNvPr id="13" name="Image 3" descr="icon">    </p:cNvPr>
          <p:cNvPicPr>
            <a:picLocks noChangeAspect="1"/>
          </p:cNvPicPr>
          <p:nvPr/>
        </p:nvPicPr>
        <p:blipFill>
          <a:blip r:embed="rId4"/>
          <a:stretch>
            <a:fillRect/>
          </a:stretch>
        </p:blipFill>
        <p:spPr>
          <a:xfrm>
            <a:off x="5966460" y="3351276"/>
            <a:ext cx="228600" cy="228600"/>
          </a:xfrm>
          <a:prstGeom prst="rect">
            <a:avLst/>
          </a:prstGeom>
        </p:spPr>
      </p:pic>
      <p:sp>
        <p:nvSpPr>
          <p:cNvPr id="14" name="Text 8"/>
          <p:cNvSpPr txBox="1"/>
          <p:nvPr/>
        </p:nvSpPr>
        <p:spPr>
          <a:xfrm>
            <a:off x="6446520" y="3218688"/>
            <a:ext cx="2240280" cy="274320"/>
          </a:xfrm>
          <a:prstGeom prst="rect">
            <a:avLst/>
          </a:prstGeom>
          <a:noFill/>
          <a:ln/>
        </p:spPr>
        <p:txBody>
          <a:bodyPr wrap="square" lIns="0" tIns="0" rIns="0" bIns="0" rtlCol="0" anchor="t"/>
          <a:lstStyle/>
          <a:p>
            <a:pPr indent="0" marL="0">
              <a:buNone/>
            </a:pPr>
            <a:r>
              <a:rPr lang="en-US" sz="1600" b="1" dirty="0">
                <a:solidFill>
                  <a:schemeClr val="tx1"/>
                </a:solidFill>
              </a:rPr>
              <a:t>Two languages</a:t>
            </a:r>
            <a:endParaRPr lang="en-US" sz="1600" dirty="0"/>
          </a:p>
        </p:txBody>
      </p:sp>
      <p:sp>
        <p:nvSpPr>
          <p:cNvPr id="15" name="Text 9"/>
          <p:cNvSpPr txBox="1"/>
          <p:nvPr/>
        </p:nvSpPr>
        <p:spPr>
          <a:xfrm>
            <a:off x="6446520" y="3529584"/>
            <a:ext cx="2240280" cy="640080"/>
          </a:xfrm>
          <a:prstGeom prst="rect">
            <a:avLst/>
          </a:prstGeom>
          <a:noFill/>
          <a:ln/>
        </p:spPr>
        <p:txBody>
          <a:bodyPr wrap="square" lIns="0" tIns="0" rIns="0" bIns="0" rtlCol="0" anchor="t"/>
          <a:lstStyle/>
          <a:p>
            <a:pPr indent="0" marL="0">
              <a:buNone/>
            </a:pPr>
            <a:r>
              <a:rPr lang="en-US" sz="1200" dirty="0">
                <a:solidFill>
                  <a:schemeClr val="tx1"/>
                </a:solidFill>
              </a:rPr>
              <a:t>Amharic and English interface, switched in one click</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The highlight stays exact at any zoom level</a:t>
            </a:r>
            <a:endParaRPr lang="en-US" sz="3000" dirty="0"/>
          </a:p>
        </p:txBody>
      </p:sp>
      <p:sp>
        <p:nvSpPr>
          <p:cNvPr id="3" name="step-1"/>
          <p:cNvSpPr/>
          <p:nvPr/>
        </p:nvSpPr>
        <p:spPr>
          <a:xfrm>
            <a:off x="457200" y="118872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97280" y="1161288"/>
            <a:ext cx="3291840" cy="274320"/>
          </a:xfrm>
          <a:prstGeom prst="rect">
            <a:avLst/>
          </a:prstGeom>
          <a:noFill/>
          <a:ln/>
        </p:spPr>
        <p:txBody>
          <a:bodyPr wrap="square" lIns="0" tIns="0" rIns="0" bIns="0" rtlCol="0" anchor="t"/>
          <a:lstStyle/>
          <a:p>
            <a:pPr indent="0" marL="0">
              <a:buNone/>
            </a:pPr>
            <a:r>
              <a:rPr lang="en-US" sz="1600" b="1" dirty="0">
                <a:solidFill>
                  <a:schemeClr val="tx1"/>
                </a:solidFill>
              </a:rPr>
              <a:t>OCR returns a pixel box</a:t>
            </a:r>
            <a:endParaRPr lang="en-US" sz="1600" dirty="0"/>
          </a:p>
        </p:txBody>
      </p:sp>
      <p:sp>
        <p:nvSpPr>
          <p:cNvPr id="6" name="Text 4"/>
          <p:cNvSpPr txBox="1"/>
          <p:nvPr/>
        </p:nvSpPr>
        <p:spPr>
          <a:xfrm>
            <a:off x="1097280" y="1463040"/>
            <a:ext cx="3291840" cy="548640"/>
          </a:xfrm>
          <a:prstGeom prst="rect">
            <a:avLst/>
          </a:prstGeom>
          <a:noFill/>
          <a:ln/>
        </p:spPr>
        <p:txBody>
          <a:bodyPr wrap="square" lIns="0" tIns="0" rIns="0" bIns="0" rtlCol="0" anchor="t"/>
          <a:lstStyle/>
          <a:p>
            <a:pPr indent="0" marL="0">
              <a:buNone/>
            </a:pPr>
            <a:r>
              <a:rPr lang="en-US" sz="1300" dirty="0">
                <a:solidFill>
                  <a:schemeClr val="tx1"/>
                </a:solidFill>
              </a:rPr>
              <a:t>left, top, width, height on the page image</a:t>
            </a:r>
            <a:endParaRPr lang="en-US" sz="1300" dirty="0"/>
          </a:p>
        </p:txBody>
      </p:sp>
      <p:sp>
        <p:nvSpPr>
          <p:cNvPr id="7" name="step-2"/>
          <p:cNvSpPr/>
          <p:nvPr/>
        </p:nvSpPr>
        <p:spPr>
          <a:xfrm>
            <a:off x="457200" y="219456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457200" y="2194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097280" y="2167128"/>
            <a:ext cx="3291840" cy="274320"/>
          </a:xfrm>
          <a:prstGeom prst="rect">
            <a:avLst/>
          </a:prstGeom>
          <a:noFill/>
          <a:ln/>
        </p:spPr>
        <p:txBody>
          <a:bodyPr wrap="square" lIns="0" tIns="0" rIns="0" bIns="0" rtlCol="0" anchor="t"/>
          <a:lstStyle/>
          <a:p>
            <a:pPr indent="0" marL="0">
              <a:buNone/>
            </a:pPr>
            <a:r>
              <a:rPr lang="en-US" sz="1600" b="1" dirty="0">
                <a:solidFill>
                  <a:schemeClr val="tx1"/>
                </a:solidFill>
              </a:rPr>
              <a:t>Backend normalizes it</a:t>
            </a:r>
            <a:endParaRPr lang="en-US" sz="1600" dirty="0"/>
          </a:p>
        </p:txBody>
      </p:sp>
      <p:sp>
        <p:nvSpPr>
          <p:cNvPr id="10" name="Text 8"/>
          <p:cNvSpPr txBox="1"/>
          <p:nvPr/>
        </p:nvSpPr>
        <p:spPr>
          <a:xfrm>
            <a:off x="1097280" y="2468880"/>
            <a:ext cx="3291840" cy="548640"/>
          </a:xfrm>
          <a:prstGeom prst="rect">
            <a:avLst/>
          </a:prstGeom>
          <a:noFill/>
          <a:ln/>
        </p:spPr>
        <p:txBody>
          <a:bodyPr wrap="square" lIns="0" tIns="0" rIns="0" bIns="0" rtlCol="0" anchor="t"/>
          <a:lstStyle/>
          <a:p>
            <a:pPr indent="0" marL="0">
              <a:buNone/>
            </a:pPr>
            <a:r>
              <a:rPr lang="en-US" sz="1300" dirty="0">
                <a:solidFill>
                  <a:schemeClr val="tx1"/>
                </a:solidFill>
              </a:rPr>
              <a:t>Divides by page width and height to get values from 0 to 1</a:t>
            </a:r>
            <a:endParaRPr lang="en-US" sz="1300" dirty="0"/>
          </a:p>
        </p:txBody>
      </p:sp>
      <p:sp>
        <p:nvSpPr>
          <p:cNvPr id="11" name="step-3"/>
          <p:cNvSpPr/>
          <p:nvPr/>
        </p:nvSpPr>
        <p:spPr>
          <a:xfrm>
            <a:off x="457200" y="3200400"/>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457200" y="3200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097280" y="3172968"/>
            <a:ext cx="3291840" cy="274320"/>
          </a:xfrm>
          <a:prstGeom prst="rect">
            <a:avLst/>
          </a:prstGeom>
          <a:noFill/>
          <a:ln/>
        </p:spPr>
        <p:txBody>
          <a:bodyPr wrap="square" lIns="0" tIns="0" rIns="0" bIns="0" rtlCol="0" anchor="t"/>
          <a:lstStyle/>
          <a:p>
            <a:pPr indent="0" marL="0">
              <a:buNone/>
            </a:pPr>
            <a:r>
              <a:rPr lang="en-US" sz="1600" b="1" dirty="0">
                <a:solidFill>
                  <a:schemeClr val="tx1"/>
                </a:solidFill>
              </a:rPr>
              <a:t>Frontend draws percentages</a:t>
            </a:r>
            <a:endParaRPr lang="en-US" sz="1600" dirty="0"/>
          </a:p>
        </p:txBody>
      </p:sp>
      <p:sp>
        <p:nvSpPr>
          <p:cNvPr id="14" name="Text 12"/>
          <p:cNvSpPr txBox="1"/>
          <p:nvPr/>
        </p:nvSpPr>
        <p:spPr>
          <a:xfrm>
            <a:off x="1097280" y="3474720"/>
            <a:ext cx="3291840" cy="548640"/>
          </a:xfrm>
          <a:prstGeom prst="rect">
            <a:avLst/>
          </a:prstGeom>
          <a:noFill/>
          <a:ln/>
        </p:spPr>
        <p:txBody>
          <a:bodyPr wrap="square" lIns="0" tIns="0" rIns="0" bIns="0" rtlCol="0" anchor="t"/>
          <a:lstStyle/>
          <a:p>
            <a:pPr indent="0" marL="0">
              <a:buNone/>
            </a:pPr>
            <a:r>
              <a:rPr lang="en-US" sz="1300" dirty="0">
                <a:solidFill>
                  <a:schemeClr val="tx1"/>
                </a:solidFill>
              </a:rPr>
              <a:t>One box per line; the overlay scales with the image</a:t>
            </a:r>
            <a:endParaRPr lang="en-US" sz="1300" dirty="0"/>
          </a:p>
        </p:txBody>
      </p:sp>
      <p:sp>
        <p:nvSpPr>
          <p:cNvPr id="15" name="code-panel"/>
          <p:cNvSpPr/>
          <p:nvPr/>
        </p:nvSpPr>
        <p:spPr>
          <a:xfrm>
            <a:off x="4754880" y="1188720"/>
            <a:ext cx="3931920" cy="2926080"/>
          </a:xfrm>
          <a:prstGeom prst="roundRect">
            <a:avLst>
              <a:gd name="adj" fmla="val 2500"/>
            </a:avLst>
          </a:prstGeom>
          <a:solidFill>
            <a:schemeClr val="tx1"/>
          </a:solidFill>
          <a:ln w="12700">
            <a:solidFill>
              <a:schemeClr val="tx1"/>
            </a:solidFill>
            <a:prstDash val="solid"/>
          </a:ln>
        </p:spPr>
      </p:sp>
      <p:sp>
        <p:nvSpPr>
          <p:cNvPr id="16" name="Text 14"/>
          <p:cNvSpPr txBox="1"/>
          <p:nvPr/>
        </p:nvSpPr>
        <p:spPr>
          <a:xfrm>
            <a:off x="4983480" y="1371600"/>
            <a:ext cx="3520440" cy="2560320"/>
          </a:xfrm>
          <a:prstGeom prst="rect">
            <a:avLst/>
          </a:prstGeom>
          <a:noFill/>
          <a:ln/>
        </p:spPr>
        <p:txBody>
          <a:bodyPr wrap="square" lIns="0" tIns="0" rIns="0" bIns="0" rtlCol="0" anchor="t"/>
          <a:lstStyle/>
          <a:p>
            <a:pPr indent="0" marL="0">
              <a:spcAft>
                <a:spcPts val="100"/>
              </a:spcAft>
              <a:buNone/>
            </a:pPr>
            <a:r>
              <a:rPr lang="en-US" sz="1200" dirty="0">
                <a:solidFill>
                  <a:schemeClr val="bg1"/>
                </a:solidFill>
                <a:latin typeface="Courier New" pitchFamily="34" charset="0"/>
                <a:ea typeface="Courier New" pitchFamily="34" charset="-122"/>
                <a:cs typeface="Courier New" pitchFamily="34" charset="-120"/>
              </a:rPr>
              <a:t>// pixels to normalized (backend)</a:t>
            </a:r>
            <a:endParaRPr lang="en-US" sz="1200" dirty="0"/>
          </a:p>
          <a:p>
            <a:pPr indent="0" marL="0">
              <a:spcAft>
                <a:spcPts val="100"/>
              </a:spcAft>
              <a:buNone/>
            </a:pPr>
            <a:r>
              <a:rPr lang="en-US" sz="1200" dirty="0">
                <a:solidFill>
                  <a:schemeClr val="bg1"/>
                </a:solidFill>
                <a:latin typeface="Courier New" pitchFamily="34" charset="0"/>
                <a:ea typeface="Courier New" pitchFamily="34" charset="-122"/>
                <a:cs typeface="Courier New" pitchFamily="34" charset="-120"/>
              </a:rPr>
              <a:t>x = left / pageWidth</a:t>
            </a:r>
            <a:endParaRPr lang="en-US" sz="1200" dirty="0"/>
          </a:p>
          <a:p>
            <a:pPr indent="0" marL="0">
              <a:spcAft>
                <a:spcPts val="100"/>
              </a:spcAft>
              <a:buNone/>
            </a:pPr>
            <a:r>
              <a:rPr lang="en-US" sz="1200" dirty="0">
                <a:solidFill>
                  <a:schemeClr val="bg1"/>
                </a:solidFill>
                <a:latin typeface="Courier New" pitchFamily="34" charset="0"/>
                <a:ea typeface="Courier New" pitchFamily="34" charset="-122"/>
                <a:cs typeface="Courier New" pitchFamily="34" charset="-120"/>
              </a:rPr>
              <a:t>y = top / pageHeight</a:t>
            </a:r>
            <a:endParaRPr lang="en-US" sz="1200" dirty="0"/>
          </a:p>
          <a:p>
            <a:pPr indent="0" marL="0">
              <a:spcAft>
                <a:spcPts val="100"/>
              </a:spcAft>
              <a:buNone/>
            </a:pPr>
            <a:endParaRPr lang="en-US" sz="1200" dirty="0"/>
          </a:p>
          <a:p>
            <a:pPr indent="0" marL="0">
              <a:spcAft>
                <a:spcPts val="100"/>
              </a:spcAft>
              <a:buNone/>
            </a:pPr>
            <a:r>
              <a:rPr lang="en-US" sz="1200" dirty="0">
                <a:solidFill>
                  <a:schemeClr val="bg1"/>
                </a:solidFill>
                <a:latin typeface="Courier New" pitchFamily="34" charset="0"/>
                <a:ea typeface="Courier New" pitchFamily="34" charset="-122"/>
                <a:cs typeface="Courier New" pitchFamily="34" charset="-120"/>
              </a:rPr>
              <a:t>// normalized to CSS (frontend)</a:t>
            </a:r>
            <a:endParaRPr lang="en-US" sz="1200" dirty="0"/>
          </a:p>
          <a:p>
            <a:pPr indent="0" marL="0">
              <a:spcAft>
                <a:spcPts val="100"/>
              </a:spcAft>
              <a:buNone/>
            </a:pPr>
            <a:r>
              <a:rPr lang="en-US" sz="1200" dirty="0">
                <a:solidFill>
                  <a:schemeClr val="bg1"/>
                </a:solidFill>
                <a:latin typeface="Courier New" pitchFamily="34" charset="0"/>
                <a:ea typeface="Courier New" pitchFamily="34" charset="-122"/>
                <a:cs typeface="Courier New" pitchFamily="34" charset="-120"/>
              </a:rPr>
              <a:t>left:  x * 100 + '%'</a:t>
            </a:r>
            <a:endParaRPr lang="en-US" sz="1200" dirty="0"/>
          </a:p>
          <a:p>
            <a:pPr indent="0" marL="0">
              <a:spcAft>
                <a:spcPts val="100"/>
              </a:spcAft>
              <a:buNone/>
            </a:pPr>
            <a:r>
              <a:rPr lang="en-US" sz="1200" dirty="0">
                <a:solidFill>
                  <a:schemeClr val="bg1"/>
                </a:solidFill>
                <a:latin typeface="Courier New" pitchFamily="34" charset="0"/>
                <a:ea typeface="Courier New" pitchFamily="34" charset="-122"/>
                <a:cs typeface="Courier New" pitchFamily="34" charset="-120"/>
              </a:rPr>
              <a:t>top:   y * 100 + '%'</a:t>
            </a:r>
            <a:endParaRPr lang="en-US" sz="1200" dirty="0"/>
          </a:p>
          <a:p>
            <a:pPr indent="0" marL="0">
              <a:spcAft>
                <a:spcPts val="100"/>
              </a:spcAft>
              <a:buNone/>
            </a:pPr>
            <a:endParaRPr lang="en-US" sz="1200" dirty="0"/>
          </a:p>
          <a:p>
            <a:pPr indent="0" marL="0">
              <a:spcAft>
                <a:spcPts val="100"/>
              </a:spcAft>
              <a:buNone/>
            </a:pPr>
            <a:r>
              <a:rPr lang="en-US" sz="1200" dirty="0">
                <a:solidFill>
                  <a:schemeClr val="bg1"/>
                </a:solidFill>
                <a:latin typeface="Courier New" pitchFamily="34" charset="0"/>
                <a:ea typeface="Courier New" pitchFamily="34" charset="-122"/>
                <a:cs typeface="Courier New" pitchFamily="34" charset="-120"/>
              </a:rPr>
              <a:t>// verified in test TC-05</a:t>
            </a:r>
            <a:endParaRPr lang="en-US" sz="1200" dirty="0"/>
          </a:p>
          <a:p>
            <a:pPr indent="0" marL="0">
              <a:spcAft>
                <a:spcPts val="100"/>
              </a:spcAft>
              <a:buNone/>
            </a:pPr>
            <a:r>
              <a:rPr lang="en-US" sz="1200" dirty="0">
                <a:solidFill>
                  <a:schemeClr val="bg1"/>
                </a:solidFill>
                <a:latin typeface="Courier New" pitchFamily="34" charset="0"/>
                <a:ea typeface="Courier New" pitchFamily="34" charset="-122"/>
                <a:cs typeface="Courier New" pitchFamily="34" charset="-120"/>
              </a:rPr>
              <a:t>{x:.10, y:.18, w:.80, h:.13}</a:t>
            </a:r>
            <a:endParaRPr lang="en-US" sz="1200" dirty="0"/>
          </a:p>
          <a:p>
            <a:pPr indent="0" marL="0">
              <a:spcAft>
                <a:spcPts val="100"/>
              </a:spcAft>
              <a:buNone/>
            </a:pPr>
            <a:r>
              <a:rPr lang="en-US" sz="1200" dirty="0">
                <a:solidFill>
                  <a:schemeClr val="bg1"/>
                </a:solidFill>
                <a:latin typeface="Courier New" pitchFamily="34" charset="0"/>
                <a:ea typeface="Courier New" pitchFamily="34" charset="-122"/>
                <a:cs typeface="Courier New" pitchFamily="34" charset="-120"/>
              </a:rPr>
              <a:t>-&gt; left:10%; top:18%;</a:t>
            </a:r>
            <a:endParaRPr lang="en-US" sz="1200" dirty="0"/>
          </a:p>
          <a:p>
            <a:pPr indent="0" marL="0">
              <a:spcAft>
                <a:spcPts val="100"/>
              </a:spcAft>
              <a:buNone/>
            </a:pPr>
            <a:r>
              <a:rPr lang="en-US" sz="1200" dirty="0">
                <a:solidFill>
                  <a:schemeClr val="bg1"/>
                </a:solidFill>
                <a:latin typeface="Courier New" pitchFamily="34" charset="0"/>
                <a:ea typeface="Courier New" pitchFamily="34" charset="-122"/>
                <a:cs typeface="Courier New" pitchFamily="34" charset="-120"/>
              </a:rPr>
              <a:t>    width:80%; height:13%</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Admin tools and a full mobile view</a:t>
            </a:r>
            <a:endParaRPr lang="en-US" sz="3000" dirty="0"/>
          </a:p>
        </p:txBody>
      </p:sp>
      <p:pic>
        <p:nvPicPr>
          <p:cNvPr id="3" name="Image 0" descr="Administration page with upload area and document table">    </p:cNvPr>
          <p:cNvPicPr>
            <a:picLocks noChangeAspect="1"/>
          </p:cNvPicPr>
          <p:nvPr/>
        </p:nvPicPr>
        <p:blipFill>
          <a:blip r:embed="rId1"/>
          <a:stretch>
            <a:fillRect/>
          </a:stretch>
        </p:blipFill>
        <p:spPr>
          <a:xfrm>
            <a:off x="457200" y="1188720"/>
            <a:ext cx="4937760" cy="2948940"/>
          </a:xfrm>
          <a:prstGeom prst="rect">
            <a:avLst/>
          </a:prstGeom>
          <a:effectLst>
            <a:outerShdw sx="100000" sy="100000" kx="0" ky="0" algn="bl" rotWithShape="0" blurRad="101600" dist="25400" dir="5400000">
              <a:srgbClr val="000000">
                <a:alpha val="18000"/>
              </a:srgbClr>
            </a:outerShdw>
          </a:effectLst>
        </p:spPr>
      </p:pic>
      <p:pic>
        <p:nvPicPr>
          <p:cNvPr id="4" name="Image 1" descr="Mobile viewer showing a highlighted passage">    </p:cNvPr>
          <p:cNvPicPr>
            <a:picLocks noChangeAspect="1"/>
          </p:cNvPicPr>
          <p:nvPr/>
        </p:nvPicPr>
        <p:blipFill>
          <a:blip r:embed="rId2"/>
          <a:stretch>
            <a:fillRect/>
          </a:stretch>
        </p:blipFill>
        <p:spPr>
          <a:xfrm>
            <a:off x="5989320" y="1188720"/>
            <a:ext cx="1499616" cy="3076135"/>
          </a:xfrm>
          <a:prstGeom prst="rect">
            <a:avLst/>
          </a:prstGeom>
          <a:effectLst>
            <a:outerShdw sx="100000" sy="100000" kx="0" ky="0" algn="bl" rotWithShape="0" blurRad="101600" dist="25400" dir="5400000">
              <a:srgbClr val="000000">
                <a:alpha val="18000"/>
              </a:srgbClr>
            </a:outerShdw>
          </a:effectLst>
        </p:spPr>
      </p:pic>
      <p:sp>
        <p:nvSpPr>
          <p:cNvPr id="5" name="Text 1"/>
          <p:cNvSpPr txBox="1"/>
          <p:nvPr/>
        </p:nvSpPr>
        <p:spPr>
          <a:xfrm>
            <a:off x="457200" y="4297680"/>
            <a:ext cx="4937760" cy="457200"/>
          </a:xfrm>
          <a:prstGeom prst="rect">
            <a:avLst/>
          </a:prstGeom>
          <a:noFill/>
          <a:ln/>
        </p:spPr>
        <p:txBody>
          <a:bodyPr wrap="square" lIns="0" tIns="0" rIns="0" bIns="0" rtlCol="0" anchor="t"/>
          <a:lstStyle/>
          <a:p>
            <a:pPr indent="0" marL="0">
              <a:buNone/>
            </a:pPr>
            <a:r>
              <a:rPr lang="en-US" sz="1200" dirty="0">
                <a:solidFill>
                  <a:schemeClr val="tx1"/>
                </a:solidFill>
              </a:rPr>
              <a:t>Sign-in with JWT. Upload with progress, status updates every 2.5 s, delete after confirmation.</a:t>
            </a:r>
            <a:endParaRPr lang="en-US" sz="1200" dirty="0"/>
          </a:p>
        </p:txBody>
      </p:sp>
      <p:sp>
        <p:nvSpPr>
          <p:cNvPr id="6" name="Text 2"/>
          <p:cNvSpPr txBox="1"/>
          <p:nvPr/>
        </p:nvSpPr>
        <p:spPr>
          <a:xfrm>
            <a:off x="5669280" y="4297680"/>
            <a:ext cx="3017520" cy="457200"/>
          </a:xfrm>
          <a:prstGeom prst="rect">
            <a:avLst/>
          </a:prstGeom>
          <a:noFill/>
          <a:ln/>
        </p:spPr>
        <p:txBody>
          <a:bodyPr wrap="square" lIns="0" tIns="0" rIns="0" bIns="0" rtlCol="0" anchor="t"/>
          <a:lstStyle/>
          <a:p>
            <a:pPr indent="0" marL="0">
              <a:buNone/>
            </a:pPr>
            <a:r>
              <a:rPr lang="en-US" sz="1200" dirty="0">
                <a:solidFill>
                  <a:schemeClr val="tx1"/>
                </a:solidFill>
              </a:rPr>
              <a:t>Phones open the viewer full screen. No horizontal scrolling at 390 px.</a:t>
            </a:r>
            <a:endParaRPr lang="en-US" sz="1200" dirty="0"/>
          </a:p>
        </p:txBody>
      </p:sp>
      <p:sp>
        <p:nvSpPr>
          <p:cNvPr id="7" name="icon-circle"/>
          <p:cNvSpPr/>
          <p:nvPr/>
        </p:nvSpPr>
        <p:spPr>
          <a:xfrm>
            <a:off x="7863840" y="1188720"/>
            <a:ext cx="457200" cy="457200"/>
          </a:xfrm>
          <a:prstGeom prst="ellipse">
            <a:avLst/>
          </a:prstGeom>
          <a:solidFill>
            <a:schemeClr val="accent1"/>
          </a:solidFill>
          <a:ln w="12700">
            <a:solidFill>
              <a:schemeClr val="accent1"/>
            </a:solidFill>
            <a:prstDash val="solid"/>
          </a:ln>
        </p:spPr>
      </p:sp>
      <p:pic>
        <p:nvPicPr>
          <p:cNvPr id="8" name="Image 2" descr="icon">    </p:cNvPr>
          <p:cNvPicPr>
            <a:picLocks noChangeAspect="1"/>
          </p:cNvPicPr>
          <p:nvPr/>
        </p:nvPicPr>
        <p:blipFill>
          <a:blip r:embed="rId3"/>
          <a:stretch>
            <a:fillRect/>
          </a:stretch>
        </p:blipFill>
        <p:spPr>
          <a:xfrm>
            <a:off x="7978140" y="1303020"/>
            <a:ext cx="228600" cy="228600"/>
          </a:xfrm>
          <a:prstGeom prst="rect">
            <a:avLst/>
          </a:prstGeom>
        </p:spPr>
      </p:pic>
      <p:sp>
        <p:nvSpPr>
          <p:cNvPr id="9" name="Text 4"/>
          <p:cNvSpPr txBox="1"/>
          <p:nvPr/>
        </p:nvSpPr>
        <p:spPr>
          <a:xfrm>
            <a:off x="7635240" y="1737360"/>
            <a:ext cx="1051560" cy="822960"/>
          </a:xfrm>
          <a:prstGeom prst="rect">
            <a:avLst/>
          </a:prstGeom>
          <a:noFill/>
          <a:ln/>
        </p:spPr>
        <p:txBody>
          <a:bodyPr wrap="square" lIns="0" tIns="0" rIns="0" bIns="0" rtlCol="0" anchor="t"/>
          <a:lstStyle/>
          <a:p>
            <a:pPr indent="0" marL="0">
              <a:buNone/>
            </a:pPr>
            <a:r>
              <a:rPr lang="en-US" sz="1100" dirty="0">
                <a:solidFill>
                  <a:schemeClr val="tx1"/>
                </a:solidFill>
              </a:rPr>
              <a:t>Upload and delete are admin-only</a:t>
            </a:r>
            <a:endParaRPr lang="en-US" sz="1100" dirty="0"/>
          </a:p>
        </p:txBody>
      </p:sp>
      <p:sp>
        <p:nvSpPr>
          <p:cNvPr id="10" name="icon-circle"/>
          <p:cNvSpPr/>
          <p:nvPr/>
        </p:nvSpPr>
        <p:spPr>
          <a:xfrm>
            <a:off x="7863840" y="2743200"/>
            <a:ext cx="457200" cy="457200"/>
          </a:xfrm>
          <a:prstGeom prst="ellipse">
            <a:avLst/>
          </a:prstGeom>
          <a:solidFill>
            <a:schemeClr val="accent1"/>
          </a:solidFill>
          <a:ln w="12700">
            <a:solidFill>
              <a:schemeClr val="accent1"/>
            </a:solidFill>
            <a:prstDash val="solid"/>
          </a:ln>
        </p:spPr>
      </p:sp>
      <p:pic>
        <p:nvPicPr>
          <p:cNvPr id="11" name="Image 3" descr="icon">    </p:cNvPr>
          <p:cNvPicPr>
            <a:picLocks noChangeAspect="1"/>
          </p:cNvPicPr>
          <p:nvPr/>
        </p:nvPicPr>
        <p:blipFill>
          <a:blip r:embed="rId4"/>
          <a:stretch>
            <a:fillRect/>
          </a:stretch>
        </p:blipFill>
        <p:spPr>
          <a:xfrm>
            <a:off x="7978140" y="2857500"/>
            <a:ext cx="228600" cy="228600"/>
          </a:xfrm>
          <a:prstGeom prst="rect">
            <a:avLst/>
          </a:prstGeom>
        </p:spPr>
      </p:pic>
      <p:sp>
        <p:nvSpPr>
          <p:cNvPr id="12" name="Text 6"/>
          <p:cNvSpPr txBox="1"/>
          <p:nvPr/>
        </p:nvSpPr>
        <p:spPr>
          <a:xfrm>
            <a:off x="7635240" y="3291840"/>
            <a:ext cx="1051560" cy="822960"/>
          </a:xfrm>
          <a:prstGeom prst="rect">
            <a:avLst/>
          </a:prstGeom>
          <a:noFill/>
          <a:ln/>
        </p:spPr>
        <p:txBody>
          <a:bodyPr wrap="square" lIns="0" tIns="0" rIns="0" bIns="0" rtlCol="0" anchor="t"/>
          <a:lstStyle/>
          <a:p>
            <a:pPr indent="0" marL="0">
              <a:buNone/>
            </a:pPr>
            <a:r>
              <a:rPr lang="en-US" sz="1100" dirty="0">
                <a:solidFill>
                  <a:schemeClr val="tx1"/>
                </a:solidFill>
              </a:rPr>
              <a:t>Searching needs no account</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 written contract with the backend</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05840"/>
                <a:gridCol w="3566160"/>
                <a:gridCol w="3657600"/>
              </a:tblGrid>
              <a:tr h="0">
                <a:tc>
                  <a:txBody>
                    <a:bodyPr/>
                    <a:lstStyle/>
                    <a:p>
                      <a:pPr indent="0" marL="0">
                        <a:buNone/>
                      </a:pPr>
                      <a:r>
                        <a:rPr lang="en-US" sz="1300" b="1" dirty="0">
                          <a:solidFill>
                            <a:srgbClr val="FFFFFF"/>
                          </a:solidFill>
                        </a:rPr>
                        <a:t>Method</a:t>
                      </a:r>
                      <a:endParaRPr lang="en-US" sz="13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0E6A68"/>
                    </a:solidFill>
                  </a:tcPr>
                </a:tc>
                <a:tc>
                  <a:txBody>
                    <a:bodyPr/>
                    <a:lstStyle/>
                    <a:p>
                      <a:pPr indent="0" marL="0">
                        <a:buNone/>
                      </a:pPr>
                      <a:r>
                        <a:rPr lang="en-US" sz="1300" b="1" dirty="0">
                          <a:solidFill>
                            <a:srgbClr val="FFFFFF"/>
                          </a:solidFill>
                        </a:rPr>
                        <a:t>Path</a:t>
                      </a:r>
                      <a:endParaRPr lang="en-US" sz="13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0E6A68"/>
                    </a:solidFill>
                  </a:tcPr>
                </a:tc>
                <a:tc>
                  <a:txBody>
                    <a:bodyPr/>
                    <a:lstStyle/>
                    <a:p>
                      <a:pPr indent="0" marL="0">
                        <a:buNone/>
                      </a:pPr>
                      <a:r>
                        <a:rPr lang="en-US" sz="1300" b="1" dirty="0">
                          <a:solidFill>
                            <a:srgbClr val="FFFFFF"/>
                          </a:solidFill>
                        </a:rPr>
                        <a:t>Purpose</a:t>
                      </a:r>
                      <a:endParaRPr lang="en-US" sz="13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0E6A68"/>
                    </a:solidFill>
                  </a:tcPr>
                </a:tc>
              </a:tr>
              <a:tr h="0">
                <a:tc>
                  <a:txBody>
                    <a:bodyPr/>
                    <a:lstStyle/>
                    <a:p>
                      <a:pPr indent="0" marL="0">
                        <a:buNone/>
                      </a:pPr>
                      <a:r>
                        <a:rPr lang="en-US" sz="1200" b="1" dirty="0">
                          <a:solidFill>
                            <a:srgbClr val="18262B"/>
                          </a:solidFill>
                        </a:rPr>
                        <a:t>POST</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EAEFEA"/>
                    </a:solidFill>
                  </a:tcPr>
                </a:tc>
                <a:tc>
                  <a:txBody>
                    <a:bodyPr/>
                    <a:lstStyle/>
                    <a:p>
                      <a:pPr indent="0" marL="0">
                        <a:buNone/>
                      </a:pPr>
                      <a:r>
                        <a:rPr lang="en-US" sz="1200" dirty="0">
                          <a:solidFill>
                            <a:srgbClr val="18262B"/>
                          </a:solidFill>
                          <a:latin typeface="Courier New" pitchFamily="34" charset="0"/>
                          <a:ea typeface="Courier New" pitchFamily="34" charset="-122"/>
                          <a:cs typeface="Courier New" pitchFamily="34" charset="-120"/>
                        </a:rPr>
                        <a:t>/auth/login</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EAEFEA"/>
                    </a:solidFill>
                  </a:tcPr>
                </a:tc>
                <a:tc>
                  <a:txBody>
                    <a:bodyPr/>
                    <a:lstStyle/>
                    <a:p>
                      <a:pPr indent="0" marL="0">
                        <a:buNone/>
                      </a:pPr>
                      <a:r>
                        <a:rPr lang="en-US" sz="1200" dirty="0">
                          <a:solidFill>
                            <a:srgbClr val="18262B"/>
                          </a:solidFill>
                        </a:rPr>
                        <a:t>Sign in, returns token and role</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EAEFEA"/>
                    </a:solidFill>
                  </a:tcPr>
                </a:tc>
              </a:tr>
              <a:tr h="0">
                <a:tc>
                  <a:txBody>
                    <a:bodyPr/>
                    <a:lstStyle/>
                    <a:p>
                      <a:pPr indent="0" marL="0">
                        <a:buNone/>
                      </a:pPr>
                      <a:r>
                        <a:rPr lang="en-US" sz="1200" b="1" dirty="0">
                          <a:solidFill>
                            <a:srgbClr val="18262B"/>
                          </a:solidFill>
                        </a:rPr>
                        <a:t>GET</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latin typeface="Courier New" pitchFamily="34" charset="0"/>
                          <a:ea typeface="Courier New" pitchFamily="34" charset="-122"/>
                          <a:cs typeface="Courier New" pitchFamily="34" charset="-120"/>
                        </a:rPr>
                        <a:t>/search?q=&amp;k=</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Ranked passages with page and boxes</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8262B"/>
                          </a:solidFill>
                        </a:rPr>
                        <a:t>GET</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EAEFEA"/>
                    </a:solidFill>
                  </a:tcPr>
                </a:tc>
                <a:tc>
                  <a:txBody>
                    <a:bodyPr/>
                    <a:lstStyle/>
                    <a:p>
                      <a:pPr indent="0" marL="0">
                        <a:buNone/>
                      </a:pPr>
                      <a:r>
                        <a:rPr lang="en-US" sz="1200" dirty="0">
                          <a:solidFill>
                            <a:srgbClr val="18262B"/>
                          </a:solidFill>
                          <a:latin typeface="Courier New" pitchFamily="34" charset="0"/>
                          <a:ea typeface="Courier New" pitchFamily="34" charset="-122"/>
                          <a:cs typeface="Courier New" pitchFamily="34" charset="-120"/>
                        </a:rPr>
                        <a:t>/documents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EAEFEA"/>
                    </a:solidFill>
                  </a:tcPr>
                </a:tc>
                <a:tc>
                  <a:txBody>
                    <a:bodyPr/>
                    <a:lstStyle/>
                    <a:p>
                      <a:pPr indent="0" marL="0">
                        <a:buNone/>
                      </a:pPr>
                      <a:r>
                        <a:rPr lang="en-US" sz="1200" dirty="0">
                          <a:solidFill>
                            <a:srgbClr val="18262B"/>
                          </a:solidFill>
                        </a:rPr>
                        <a:t>List documents and status</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EAEFEA"/>
                    </a:solidFill>
                  </a:tcPr>
                </a:tc>
              </a:tr>
              <a:tr h="0">
                <a:tc>
                  <a:txBody>
                    <a:bodyPr/>
                    <a:lstStyle/>
                    <a:p>
                      <a:pPr indent="0" marL="0">
                        <a:buNone/>
                      </a:pPr>
                      <a:r>
                        <a:rPr lang="en-US" sz="1200" b="1" dirty="0">
                          <a:solidFill>
                            <a:srgbClr val="18262B"/>
                          </a:solidFill>
                        </a:rPr>
                        <a:t>POST</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latin typeface="Courier New" pitchFamily="34" charset="0"/>
                          <a:ea typeface="Courier New" pitchFamily="34" charset="-122"/>
                          <a:cs typeface="Courier New" pitchFamily="34" charset="-120"/>
                        </a:rPr>
                        <a:t>/documents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Upload a file (admin)</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8262B"/>
                          </a:solidFill>
                        </a:rPr>
                        <a:t>DELETE</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EAEFEA"/>
                    </a:solidFill>
                  </a:tcPr>
                </a:tc>
                <a:tc>
                  <a:txBody>
                    <a:bodyPr/>
                    <a:lstStyle/>
                    <a:p>
                      <a:pPr indent="0" marL="0">
                        <a:buNone/>
                      </a:pPr>
                      <a:r>
                        <a:rPr lang="en-US" sz="1200" dirty="0">
                          <a:solidFill>
                            <a:srgbClr val="18262B"/>
                          </a:solidFill>
                          <a:latin typeface="Courier New" pitchFamily="34" charset="0"/>
                          <a:ea typeface="Courier New" pitchFamily="34" charset="-122"/>
                          <a:cs typeface="Courier New" pitchFamily="34" charset="-120"/>
                        </a:rPr>
                        <a:t>/documents/{id}</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EAEFEA"/>
                    </a:solidFill>
                  </a:tcPr>
                </a:tc>
                <a:tc>
                  <a:txBody>
                    <a:bodyPr/>
                    <a:lstStyle/>
                    <a:p>
                      <a:pPr indent="0" marL="0">
                        <a:buNone/>
                      </a:pPr>
                      <a:r>
                        <a:rPr lang="en-US" sz="1200" dirty="0">
                          <a:solidFill>
                            <a:srgbClr val="18262B"/>
                          </a:solidFill>
                        </a:rPr>
                        <a:t>Remove a document (admin)</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EAEFEA"/>
                    </a:solidFill>
                  </a:tcPr>
                </a:tc>
              </a:tr>
              <a:tr h="0">
                <a:tc>
                  <a:txBody>
                    <a:bodyPr/>
                    <a:lstStyle/>
                    <a:p>
                      <a:pPr indent="0" marL="0">
                        <a:buNone/>
                      </a:pPr>
                      <a:r>
                        <a:rPr lang="en-US" sz="1200" b="1" dirty="0">
                          <a:solidFill>
                            <a:srgbClr val="18262B"/>
                          </a:solidFill>
                        </a:rPr>
                        <a:t>GET</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latin typeface="Courier New" pitchFamily="34" charset="0"/>
                          <a:ea typeface="Courier New" pitchFamily="34" charset="-122"/>
                          <a:cs typeface="Courier New" pitchFamily="34" charset="-120"/>
                        </a:rPr>
                        <a:t>/documents/{id}/pages/{n}/image</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Preprocessed page image</a:t>
                      </a:r>
                      <a:endParaRPr lang="en-US" sz="1200" dirty="0"/>
                    </a:p>
                  </a:txBody>
                  <a:tcPr marL="91440" marR="91440" marT="45720" marB="45720"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520440"/>
            <a:ext cx="8229600" cy="822960"/>
          </a:xfrm>
          <a:prstGeom prst="rect">
            <a:avLst/>
          </a:prstGeom>
          <a:noFill/>
          <a:ln/>
        </p:spPr>
        <p:txBody>
          <a:bodyPr wrap="square" lIns="0" tIns="0" rIns="0" bIns="0" rtlCol="0" anchor="t"/>
          <a:lstStyle/>
          <a:p>
            <a:pPr indent="0" marL="0">
              <a:buNone/>
            </a:pPr>
            <a:r>
              <a:rPr lang="en-US" sz="1400" dirty="0">
                <a:solidFill>
                  <a:schemeClr val="tx1"/>
                </a:solidFill>
              </a:rPr>
              <a:t>One file, src/lib/api.js, holds every API call. Leave VITE_API_URL empty to use the built-in mock; set it to use FastAPI. Errors are read from the detail field; a 401 or 403 returns the user to sign-in.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Designed before it was built</a:t>
            </a:r>
            <a:endParaRPr lang="en-US" sz="3000" dirty="0"/>
          </a:p>
        </p:txBody>
      </p:sp>
      <p:pic>
        <p:nvPicPr>
          <p:cNvPr id="3" name="Image 0" descr="Use-case diagram for searchers and administrators">    </p:cNvPr>
          <p:cNvPicPr>
            <a:picLocks noChangeAspect="1"/>
          </p:cNvPicPr>
          <p:nvPr/>
        </p:nvPicPr>
        <p:blipFill>
          <a:blip r:embed="rId1"/>
          <a:stretch>
            <a:fillRect/>
          </a:stretch>
        </p:blipFill>
        <p:spPr>
          <a:xfrm>
            <a:off x="685800" y="1143000"/>
            <a:ext cx="7772400" cy="3108960"/>
          </a:xfrm>
          <a:prstGeom prst="rect">
            <a:avLst/>
          </a:prstGeom>
        </p:spPr>
      </p:pic>
      <p:sp>
        <p:nvSpPr>
          <p:cNvPr id="4" name="Text 1"/>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200" dirty="0">
                <a:solidFill>
                  <a:schemeClr val="accent3"/>
                </a:solidFill>
              </a:rPr>
              <a:t>Use-case diagram. Sequence, class and ER diagrams: Annexes B and C. Wireframes: Annex D.</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Automated tests: 18 unit, 31 of 31 end-to-end</a:t>
            </a:r>
            <a:endParaRPr lang="en-US" sz="3000" dirty="0"/>
          </a:p>
        </p:txBody>
      </p:sp>
      <p:sp>
        <p:nvSpPr>
          <p:cNvPr id="3" name="stat-1"/>
          <p:cNvSpPr/>
          <p:nvPr/>
        </p:nvSpPr>
        <p:spPr>
          <a:xfrm>
            <a:off x="457200" y="1188720"/>
            <a:ext cx="3108960" cy="914400"/>
          </a:xfrm>
          <a:prstGeom prst="roundRect">
            <a:avLst>
              <a:gd name="adj" fmla="val 8000"/>
            </a:avLst>
          </a:prstGeom>
          <a:solidFill>
            <a:schemeClr val="bg2"/>
          </a:solidFill>
          <a:ln w="12700">
            <a:solidFill>
              <a:schemeClr val="bg2"/>
            </a:solidFill>
            <a:prstDash val="solid"/>
          </a:ln>
        </p:spPr>
      </p:sp>
      <p:sp>
        <p:nvSpPr>
          <p:cNvPr id="4" name="Text 2"/>
          <p:cNvSpPr txBox="1"/>
          <p:nvPr/>
        </p:nvSpPr>
        <p:spPr>
          <a:xfrm>
            <a:off x="640080" y="1188720"/>
            <a:ext cx="137160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18</a:t>
            </a:r>
            <a:endParaRPr lang="en-US" sz="3200" dirty="0"/>
          </a:p>
        </p:txBody>
      </p:sp>
      <p:sp>
        <p:nvSpPr>
          <p:cNvPr id="5" name="Text 3"/>
          <p:cNvSpPr txBox="1"/>
          <p:nvPr/>
        </p:nvSpPr>
        <p:spPr>
          <a:xfrm>
            <a:off x="2011680" y="1188720"/>
            <a:ext cx="1463040" cy="914400"/>
          </a:xfrm>
          <a:prstGeom prst="rect">
            <a:avLst/>
          </a:prstGeom>
          <a:noFill/>
          <a:ln/>
        </p:spPr>
        <p:txBody>
          <a:bodyPr wrap="square" lIns="0" tIns="0" rIns="0" bIns="0" rtlCol="0" anchor="ctr"/>
          <a:lstStyle/>
          <a:p>
            <a:pPr indent="0" marL="0">
              <a:buNone/>
            </a:pPr>
            <a:r>
              <a:rPr lang="en-US" sz="1300" dirty="0">
                <a:solidFill>
                  <a:schemeClr val="tx1"/>
                </a:solidFill>
              </a:rPr>
              <a:t>unit tests passing</a:t>
            </a:r>
            <a:endParaRPr lang="en-US" sz="1300" dirty="0"/>
          </a:p>
        </p:txBody>
      </p:sp>
      <p:sp>
        <p:nvSpPr>
          <p:cNvPr id="6" name="stat-2"/>
          <p:cNvSpPr/>
          <p:nvPr/>
        </p:nvSpPr>
        <p:spPr>
          <a:xfrm>
            <a:off x="457200" y="2286000"/>
            <a:ext cx="3108960" cy="914400"/>
          </a:xfrm>
          <a:prstGeom prst="roundRect">
            <a:avLst>
              <a:gd name="adj" fmla="val 8000"/>
            </a:avLst>
          </a:prstGeom>
          <a:solidFill>
            <a:schemeClr val="bg2"/>
          </a:solidFill>
          <a:ln w="12700">
            <a:solidFill>
              <a:schemeClr val="bg2"/>
            </a:solidFill>
            <a:prstDash val="solid"/>
          </a:ln>
        </p:spPr>
      </p:sp>
      <p:sp>
        <p:nvSpPr>
          <p:cNvPr id="7" name="Text 5"/>
          <p:cNvSpPr txBox="1"/>
          <p:nvPr/>
        </p:nvSpPr>
        <p:spPr>
          <a:xfrm>
            <a:off x="640080" y="2286000"/>
            <a:ext cx="137160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31/31</a:t>
            </a:r>
            <a:endParaRPr lang="en-US" sz="3200" dirty="0"/>
          </a:p>
        </p:txBody>
      </p:sp>
      <p:sp>
        <p:nvSpPr>
          <p:cNvPr id="8" name="Text 6"/>
          <p:cNvSpPr txBox="1"/>
          <p:nvPr/>
        </p:nvSpPr>
        <p:spPr>
          <a:xfrm>
            <a:off x="2011680" y="2286000"/>
            <a:ext cx="1463040" cy="914400"/>
          </a:xfrm>
          <a:prstGeom prst="rect">
            <a:avLst/>
          </a:prstGeom>
          <a:noFill/>
          <a:ln/>
        </p:spPr>
        <p:txBody>
          <a:bodyPr wrap="square" lIns="0" tIns="0" rIns="0" bIns="0" rtlCol="0" anchor="ctr"/>
          <a:lstStyle/>
          <a:p>
            <a:pPr indent="0" marL="0">
              <a:buNone/>
            </a:pPr>
            <a:r>
              <a:rPr lang="en-US" sz="1300" dirty="0">
                <a:solidFill>
                  <a:schemeClr val="tx1"/>
                </a:solidFill>
              </a:rPr>
              <a:t>browser scenarios passing</a:t>
            </a:r>
            <a:endParaRPr lang="en-US" sz="1300" dirty="0"/>
          </a:p>
        </p:txBody>
      </p:sp>
      <p:sp>
        <p:nvSpPr>
          <p:cNvPr id="9" name="stat-3"/>
          <p:cNvSpPr/>
          <p:nvPr/>
        </p:nvSpPr>
        <p:spPr>
          <a:xfrm>
            <a:off x="457200" y="3383280"/>
            <a:ext cx="3108960" cy="914400"/>
          </a:xfrm>
          <a:prstGeom prst="roundRect">
            <a:avLst>
              <a:gd name="adj" fmla="val 8000"/>
            </a:avLst>
          </a:prstGeom>
          <a:solidFill>
            <a:schemeClr val="bg2"/>
          </a:solidFill>
          <a:ln w="12700">
            <a:solidFill>
              <a:schemeClr val="bg2"/>
            </a:solidFill>
            <a:prstDash val="solid"/>
          </a:ln>
        </p:spPr>
      </p:sp>
      <p:sp>
        <p:nvSpPr>
          <p:cNvPr id="10" name="Text 8"/>
          <p:cNvSpPr txBox="1"/>
          <p:nvPr/>
        </p:nvSpPr>
        <p:spPr>
          <a:xfrm>
            <a:off x="640080" y="3383280"/>
            <a:ext cx="1371600" cy="9144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a:t>
            </a:r>
            <a:endParaRPr lang="en-US" sz="3200" dirty="0"/>
          </a:p>
        </p:txBody>
      </p:sp>
      <p:sp>
        <p:nvSpPr>
          <p:cNvPr id="11" name="Text 9"/>
          <p:cNvSpPr txBox="1"/>
          <p:nvPr/>
        </p:nvSpPr>
        <p:spPr>
          <a:xfrm>
            <a:off x="2011680" y="3383280"/>
            <a:ext cx="1463040" cy="914400"/>
          </a:xfrm>
          <a:prstGeom prst="rect">
            <a:avLst/>
          </a:prstGeom>
          <a:noFill/>
          <a:ln/>
        </p:spPr>
        <p:txBody>
          <a:bodyPr wrap="square" lIns="0" tIns="0" rIns="0" bIns="0" rtlCol="0" anchor="ctr"/>
          <a:lstStyle/>
          <a:p>
            <a:pPr indent="0" marL="0">
              <a:buNone/>
            </a:pPr>
            <a:r>
              <a:rPr lang="en-US" sz="1300" dirty="0">
                <a:solidFill>
                  <a:schemeClr val="tx1"/>
                </a:solidFill>
              </a:rPr>
              <a:t>console errors</a:t>
            </a:r>
            <a:endParaRPr lang="en-US" sz="1300" dirty="0"/>
          </a:p>
        </p:txBody>
      </p:sp>
      <p:graphicFrame>
        <p:nvGraphicFramePr>
          <p:cNvPr id="12" name="Chart 0" descr=""/>
          <p:cNvGraphicFramePr/>
          <p:nvPr/>
        </p:nvGraphicFramePr>
        <p:xfrm>
          <a:off x="3931920" y="1097280"/>
          <a:ext cx="4754880" cy="3291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Evaluation targets from the proposal</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651760"/>
                <a:gridCol w="1645920"/>
                <a:gridCol w="1463040"/>
                <a:gridCol w="2468880"/>
              </a:tblGrid>
              <a:tr h="0">
                <a:tc>
                  <a:txBody>
                    <a:bodyPr/>
                    <a:lstStyle/>
                    <a:p>
                      <a:pPr indent="0" marL="0">
                        <a:buNone/>
                      </a:pPr>
                      <a:r>
                        <a:rPr lang="en-US" sz="1300" b="1" dirty="0">
                          <a:solidFill>
                            <a:srgbClr val="FFFFFF"/>
                          </a:solidFill>
                        </a:rPr>
                        <a:t>Measure</a:t>
                      </a:r>
                      <a:endParaRPr lang="en-US" sz="13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0E6A68"/>
                    </a:solidFill>
                  </a:tcPr>
                </a:tc>
                <a:tc>
                  <a:txBody>
                    <a:bodyPr/>
                    <a:lstStyle/>
                    <a:p>
                      <a:pPr indent="0" marL="0">
                        <a:buNone/>
                      </a:pPr>
                      <a:r>
                        <a:rPr lang="en-US" sz="1300" b="1" dirty="0">
                          <a:solidFill>
                            <a:srgbClr val="FFFFFF"/>
                          </a:solidFill>
                        </a:rPr>
                        <a:t>Target</a:t>
                      </a:r>
                      <a:endParaRPr lang="en-US" sz="13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0E6A68"/>
                    </a:solidFill>
                  </a:tcPr>
                </a:tc>
                <a:tc>
                  <a:txBody>
                    <a:bodyPr/>
                    <a:lstStyle/>
                    <a:p>
                      <a:pPr indent="0" marL="0">
                        <a:buNone/>
                      </a:pPr>
                      <a:r>
                        <a:rPr lang="en-US" sz="1300" b="1" dirty="0">
                          <a:solidFill>
                            <a:srgbClr val="FFFFFF"/>
                          </a:solidFill>
                        </a:rPr>
                        <a:t>Measured by</a:t>
                      </a:r>
                      <a:endParaRPr lang="en-US" sz="13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0E6A68"/>
                    </a:solidFill>
                  </a:tcPr>
                </a:tc>
                <a:tc>
                  <a:txBody>
                    <a:bodyPr/>
                    <a:lstStyle/>
                    <a:p>
                      <a:pPr indent="0" marL="0">
                        <a:buNone/>
                      </a:pPr>
                      <a:r>
                        <a:rPr lang="en-US" sz="1300" b="1" dirty="0">
                          <a:solidFill>
                            <a:srgbClr val="FFFFFF"/>
                          </a:solidFill>
                        </a:rPr>
                        <a:t>Result</a:t>
                      </a:r>
                      <a:endParaRPr lang="en-US" sz="13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0E6A68"/>
                    </a:solidFill>
                  </a:tcPr>
                </a:tc>
              </a:tr>
              <a:tr h="0">
                <a:tc>
                  <a:txBody>
                    <a:bodyPr/>
                    <a:lstStyle/>
                    <a:p>
                      <a:pPr indent="0" marL="0">
                        <a:buNone/>
                      </a:pPr>
                      <a:r>
                        <a:rPr lang="en-US" sz="1200" b="1" dirty="0">
                          <a:solidFill>
                            <a:srgbClr val="18262B"/>
                          </a:solidFill>
                        </a:rPr>
                        <a:t>Frontend scenarios</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All pass</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Yassin</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b="1" dirty="0">
                          <a:solidFill>
                            <a:srgbClr val="0E6A68"/>
                          </a:solidFill>
                        </a:rPr>
                        <a:t>31 of 31 passed</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8262B"/>
                          </a:solidFill>
                        </a:rPr>
                        <a:t>OCR character error rate</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Lowest achievable</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Ferid, Semir</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i="1" dirty="0">
                          <a:solidFill>
                            <a:srgbClr val="18262B"/>
                          </a:solidFill>
                        </a:rPr>
                        <a:t>Enter from OCR benchmark</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4CC"/>
                    </a:solidFill>
                  </a:tcPr>
                </a:tc>
              </a:tr>
              <a:tr h="0">
                <a:tc>
                  <a:txBody>
                    <a:bodyPr/>
                    <a:lstStyle/>
                    <a:p>
                      <a:pPr indent="0" marL="0">
                        <a:buNone/>
                      </a:pPr>
                      <a:r>
                        <a:rPr lang="en-US" sz="1200" b="1" dirty="0">
                          <a:solidFill>
                            <a:srgbClr val="18262B"/>
                          </a:solidFill>
                        </a:rPr>
                        <a:t>OCR time per page</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Under 3 s on GPU</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Ferid, Semir</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i="1" dirty="0">
                          <a:solidFill>
                            <a:srgbClr val="18262B"/>
                          </a:solidFill>
                        </a:rPr>
                        <a:t>Enter from benchmark</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4CC"/>
                    </a:solidFill>
                  </a:tcPr>
                </a:tc>
              </a:tr>
              <a:tr h="0">
                <a:tc>
                  <a:txBody>
                    <a:bodyPr/>
                    <a:lstStyle/>
                    <a:p>
                      <a:pPr indent="0" marL="0">
                        <a:buNone/>
                      </a:pPr>
                      <a:r>
                        <a:rPr lang="en-US" sz="1200" b="1" dirty="0">
                          <a:solidFill>
                            <a:srgbClr val="18262B"/>
                          </a:solidFill>
                        </a:rPr>
                        <a:t>Retrieval MRR@10, Recall@K</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30 test queries</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Kibreab</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i="1" dirty="0">
                          <a:solidFill>
                            <a:srgbClr val="18262B"/>
                          </a:solidFill>
                        </a:rPr>
                        <a:t>Enter from benchmark</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4CC"/>
                    </a:solidFill>
                  </a:tcPr>
                </a:tc>
              </a:tr>
              <a:tr h="0">
                <a:tc>
                  <a:txBody>
                    <a:bodyPr/>
                    <a:lstStyle/>
                    <a:p>
                      <a:pPr indent="0" marL="0">
                        <a:buNone/>
                      </a:pPr>
                      <a:r>
                        <a:rPr lang="en-US" sz="1200" b="1" dirty="0">
                          <a:solidFill>
                            <a:srgbClr val="18262B"/>
                          </a:solidFill>
                        </a:rPr>
                        <a:t>Search latency</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Under 1.5 s</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Kibreab, Semir</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i="1" dirty="0">
                          <a:solidFill>
                            <a:srgbClr val="18262B"/>
                          </a:solidFill>
                        </a:rPr>
                        <a:t>Enter from integrated test</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4CC"/>
                    </a:solidFill>
                  </a:tcPr>
                </a:tc>
              </a:tr>
              <a:tr h="0">
                <a:tc>
                  <a:txBody>
                    <a:bodyPr/>
                    <a:lstStyle/>
                    <a:p>
                      <a:pPr indent="0" marL="0">
                        <a:buNone/>
                      </a:pPr>
                      <a:r>
                        <a:rPr lang="en-US" sz="1200" b="1" dirty="0">
                          <a:solidFill>
                            <a:srgbClr val="18262B"/>
                          </a:solidFill>
                        </a:rPr>
                        <a:t>Usability (SUS)</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68 or higher</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dirty="0">
                          <a:solidFill>
                            <a:srgbClr val="18262B"/>
                          </a:solidFill>
                        </a:rPr>
                        <a:t>Yassin</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FFF"/>
                    </a:solidFill>
                  </a:tcPr>
                </a:tc>
                <a:tc>
                  <a:txBody>
                    <a:bodyPr/>
                    <a:lstStyle/>
                    <a:p>
                      <a:pPr indent="0" marL="0">
                        <a:buNone/>
                      </a:pPr>
                      <a:r>
                        <a:rPr lang="en-US" sz="1200" i="1" dirty="0">
                          <a:solidFill>
                            <a:srgbClr val="18262B"/>
                          </a:solidFill>
                        </a:rPr>
                        <a:t>Enter after UAT sessions</a:t>
                      </a:r>
                      <a:endParaRPr lang="en-US" sz="1200" dirty="0"/>
                    </a:p>
                  </a:txBody>
                  <a:tcPr marL="91440" marR="91440" marT="54864" marB="54864" anchor="ctr">
                    <a:lnL w="9525" cap="flat" cmpd="sng" algn="ctr">
                      <a:solidFill>
                        <a:srgbClr val="CBD5CD"/>
                      </a:solidFill>
                      <a:prstDash val="solid"/>
                      <a:round/>
                      <a:headEnd type="none" w="med" len="med"/>
                      <a:tailEnd type="none" w="med" len="med"/>
                    </a:lnL>
                    <a:lnR w="9525" cap="flat" cmpd="sng" algn="ctr">
                      <a:solidFill>
                        <a:srgbClr val="CBD5CD"/>
                      </a:solidFill>
                      <a:prstDash val="solid"/>
                      <a:round/>
                      <a:headEnd type="none" w="med" len="med"/>
                      <a:tailEnd type="none" w="med" len="med"/>
                    </a:lnR>
                    <a:lnT w="9525" cap="flat" cmpd="sng" algn="ctr">
                      <a:solidFill>
                        <a:srgbClr val="CBD5CD"/>
                      </a:solidFill>
                      <a:prstDash val="solid"/>
                      <a:round/>
                      <a:headEnd type="none" w="med" len="med"/>
                      <a:tailEnd type="none" w="med" len="med"/>
                    </a:lnT>
                    <a:lnB w="9525" cap="flat" cmpd="sng" algn="ctr">
                      <a:solidFill>
                        <a:srgbClr val="CBD5CD"/>
                      </a:solidFill>
                      <a:prstDash val="solid"/>
                      <a:round/>
                      <a:headEnd type="none" w="med" len="med"/>
                      <a:tailEnd type="none" w="med" len="med"/>
                    </a:lnB>
                    <a:solidFill>
                      <a:srgbClr val="FFF4CC"/>
                    </a:solidFill>
                  </a:tcPr>
                </a:tc>
              </a:tr>
            </a:tbl>
          </a:graphicData>
        </a:graphic>
      </p:graphicFrame>
      <p:sp>
        <p:nvSpPr>
          <p:cNvPr id="4" name="Text 1"/>
          <p:cNvSpPr txBox="1"/>
          <p:nvPr/>
        </p:nvSpPr>
        <p:spPr>
          <a:xfrm>
            <a:off x="457200" y="3794760"/>
            <a:ext cx="8229600" cy="274320"/>
          </a:xfrm>
          <a:prstGeom prst="rect">
            <a:avLst/>
          </a:prstGeom>
          <a:noFill/>
          <a:ln/>
        </p:spPr>
        <p:txBody>
          <a:bodyPr wrap="square" lIns="0" tIns="0" rIns="0" bIns="0" rtlCol="0" anchor="t"/>
          <a:lstStyle/>
          <a:p>
            <a:pPr indent="0" marL="0">
              <a:buNone/>
            </a:pPr>
            <a:r>
              <a:rPr lang="en-US" sz="1200" dirty="0">
                <a:solidFill>
                  <a:schemeClr val="accent3"/>
                </a:solidFill>
              </a:rPr>
              <a:t>Highlighted cells are filled with each module owner's measured figures before the defense.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User acceptance test: protocol</a:t>
            </a:r>
            <a:endParaRPr lang="en-US" sz="3000" dirty="0"/>
          </a:p>
        </p:txBody>
      </p:sp>
      <p:sp>
        <p:nvSpPr>
          <p:cNvPr id="3" name="task-1"/>
          <p:cNvSpPr/>
          <p:nvPr/>
        </p:nvSpPr>
        <p:spPr>
          <a:xfrm>
            <a:off x="457200" y="1170432"/>
            <a:ext cx="310896" cy="310896"/>
          </a:xfrm>
          <a:prstGeom prst="ellipse">
            <a:avLst/>
          </a:prstGeom>
          <a:solidFill>
            <a:schemeClr val="accent1"/>
          </a:solidFill>
          <a:ln w="12700">
            <a:solidFill>
              <a:schemeClr val="accent1"/>
            </a:solidFill>
            <a:prstDash val="solid"/>
          </a:ln>
        </p:spPr>
      </p:sp>
      <p:sp>
        <p:nvSpPr>
          <p:cNvPr id="4" name="Text 2"/>
          <p:cNvSpPr txBox="1"/>
          <p:nvPr/>
        </p:nvSpPr>
        <p:spPr>
          <a:xfrm>
            <a:off x="457200" y="1170432"/>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T1</a:t>
            </a:r>
            <a:endParaRPr lang="en-US" sz="1000" dirty="0"/>
          </a:p>
        </p:txBody>
      </p:sp>
      <p:sp>
        <p:nvSpPr>
          <p:cNvPr id="5" name="Text 3"/>
          <p:cNvSpPr txBox="1"/>
          <p:nvPr/>
        </p:nvSpPr>
        <p:spPr>
          <a:xfrm>
            <a:off x="914400" y="1143000"/>
            <a:ext cx="3657600" cy="365760"/>
          </a:xfrm>
          <a:prstGeom prst="rect">
            <a:avLst/>
          </a:prstGeom>
          <a:noFill/>
          <a:ln/>
        </p:spPr>
        <p:txBody>
          <a:bodyPr wrap="square" lIns="0" tIns="0" rIns="0" bIns="0" rtlCol="0" anchor="ctr"/>
          <a:lstStyle/>
          <a:p>
            <a:pPr indent="0" marL="0">
              <a:buNone/>
            </a:pPr>
            <a:r>
              <a:rPr lang="en-US" sz="1400" dirty="0">
                <a:solidFill>
                  <a:schemeClr val="tx1"/>
                </a:solidFill>
              </a:rPr>
              <a:t>Search and name the top result</a:t>
            </a:r>
            <a:endParaRPr lang="en-US" sz="1400" dirty="0"/>
          </a:p>
        </p:txBody>
      </p:sp>
      <p:sp>
        <p:nvSpPr>
          <p:cNvPr id="6" name="task-2"/>
          <p:cNvSpPr/>
          <p:nvPr/>
        </p:nvSpPr>
        <p:spPr>
          <a:xfrm>
            <a:off x="457200" y="1627632"/>
            <a:ext cx="310896" cy="310896"/>
          </a:xfrm>
          <a:prstGeom prst="ellipse">
            <a:avLst/>
          </a:prstGeom>
          <a:solidFill>
            <a:schemeClr val="accent1"/>
          </a:solidFill>
          <a:ln w="12700">
            <a:solidFill>
              <a:schemeClr val="accent1"/>
            </a:solidFill>
            <a:prstDash val="solid"/>
          </a:ln>
        </p:spPr>
      </p:sp>
      <p:sp>
        <p:nvSpPr>
          <p:cNvPr id="7" name="Text 5"/>
          <p:cNvSpPr txBox="1"/>
          <p:nvPr/>
        </p:nvSpPr>
        <p:spPr>
          <a:xfrm>
            <a:off x="457200" y="1627632"/>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T2</a:t>
            </a:r>
            <a:endParaRPr lang="en-US" sz="1000" dirty="0"/>
          </a:p>
        </p:txBody>
      </p:sp>
      <p:sp>
        <p:nvSpPr>
          <p:cNvPr id="8" name="Text 6"/>
          <p:cNvSpPr txBox="1"/>
          <p:nvPr/>
        </p:nvSpPr>
        <p:spPr>
          <a:xfrm>
            <a:off x="914400" y="1600200"/>
            <a:ext cx="3657600" cy="365760"/>
          </a:xfrm>
          <a:prstGeom prst="rect">
            <a:avLst/>
          </a:prstGeom>
          <a:noFill/>
          <a:ln/>
        </p:spPr>
        <p:txBody>
          <a:bodyPr wrap="square" lIns="0" tIns="0" rIns="0" bIns="0" rtlCol="0" anchor="ctr"/>
          <a:lstStyle/>
          <a:p>
            <a:pPr indent="0" marL="0">
              <a:buNone/>
            </a:pPr>
            <a:r>
              <a:rPr lang="en-US" sz="1400" dirty="0">
                <a:solidFill>
                  <a:schemeClr val="tx1"/>
                </a:solidFill>
              </a:rPr>
              <a:t>Find the highlighted passage</a:t>
            </a:r>
            <a:endParaRPr lang="en-US" sz="1400" dirty="0"/>
          </a:p>
        </p:txBody>
      </p:sp>
      <p:sp>
        <p:nvSpPr>
          <p:cNvPr id="9" name="task-3"/>
          <p:cNvSpPr/>
          <p:nvPr/>
        </p:nvSpPr>
        <p:spPr>
          <a:xfrm>
            <a:off x="457200" y="2084832"/>
            <a:ext cx="310896" cy="310896"/>
          </a:xfrm>
          <a:prstGeom prst="ellipse">
            <a:avLst/>
          </a:prstGeom>
          <a:solidFill>
            <a:schemeClr val="accent1"/>
          </a:solidFill>
          <a:ln w="12700">
            <a:solidFill>
              <a:schemeClr val="accent1"/>
            </a:solidFill>
            <a:prstDash val="solid"/>
          </a:ln>
        </p:spPr>
      </p:sp>
      <p:sp>
        <p:nvSpPr>
          <p:cNvPr id="10" name="Text 8"/>
          <p:cNvSpPr txBox="1"/>
          <p:nvPr/>
        </p:nvSpPr>
        <p:spPr>
          <a:xfrm>
            <a:off x="457200" y="2084832"/>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T3</a:t>
            </a:r>
            <a:endParaRPr lang="en-US" sz="1000" dirty="0"/>
          </a:p>
        </p:txBody>
      </p:sp>
      <p:sp>
        <p:nvSpPr>
          <p:cNvPr id="11" name="Text 9"/>
          <p:cNvSpPr txBox="1"/>
          <p:nvPr/>
        </p:nvSpPr>
        <p:spPr>
          <a:xfrm>
            <a:off x="914400" y="2057400"/>
            <a:ext cx="3657600" cy="365760"/>
          </a:xfrm>
          <a:prstGeom prst="rect">
            <a:avLst/>
          </a:prstGeom>
          <a:noFill/>
          <a:ln/>
        </p:spPr>
        <p:txBody>
          <a:bodyPr wrap="square" lIns="0" tIns="0" rIns="0" bIns="0" rtlCol="0" anchor="ctr"/>
          <a:lstStyle/>
          <a:p>
            <a:pPr indent="0" marL="0">
              <a:buNone/>
            </a:pPr>
            <a:r>
              <a:rPr lang="en-US" sz="1400" dirty="0">
                <a:solidFill>
                  <a:schemeClr val="tx1"/>
                </a:solidFill>
              </a:rPr>
              <a:t>Search with a synonym</a:t>
            </a:r>
            <a:endParaRPr lang="en-US" sz="1400" dirty="0"/>
          </a:p>
        </p:txBody>
      </p:sp>
      <p:sp>
        <p:nvSpPr>
          <p:cNvPr id="12" name="task-4"/>
          <p:cNvSpPr/>
          <p:nvPr/>
        </p:nvSpPr>
        <p:spPr>
          <a:xfrm>
            <a:off x="457200" y="2542032"/>
            <a:ext cx="310896" cy="310896"/>
          </a:xfrm>
          <a:prstGeom prst="ellipse">
            <a:avLst/>
          </a:prstGeom>
          <a:solidFill>
            <a:schemeClr val="accent1"/>
          </a:solidFill>
          <a:ln w="12700">
            <a:solidFill>
              <a:schemeClr val="accent1"/>
            </a:solidFill>
            <a:prstDash val="solid"/>
          </a:ln>
        </p:spPr>
      </p:sp>
      <p:sp>
        <p:nvSpPr>
          <p:cNvPr id="13" name="Text 11"/>
          <p:cNvSpPr txBox="1"/>
          <p:nvPr/>
        </p:nvSpPr>
        <p:spPr>
          <a:xfrm>
            <a:off x="457200" y="2542032"/>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T4</a:t>
            </a:r>
            <a:endParaRPr lang="en-US" sz="1000" dirty="0"/>
          </a:p>
        </p:txBody>
      </p:sp>
      <p:sp>
        <p:nvSpPr>
          <p:cNvPr id="14" name="Text 12"/>
          <p:cNvSpPr txBox="1"/>
          <p:nvPr/>
        </p:nvSpPr>
        <p:spPr>
          <a:xfrm>
            <a:off x="914400" y="2514600"/>
            <a:ext cx="3657600" cy="365760"/>
          </a:xfrm>
          <a:prstGeom prst="rect">
            <a:avLst/>
          </a:prstGeom>
          <a:noFill/>
          <a:ln/>
        </p:spPr>
        <p:txBody>
          <a:bodyPr wrap="square" lIns="0" tIns="0" rIns="0" bIns="0" rtlCol="0" anchor="ctr"/>
          <a:lstStyle/>
          <a:p>
            <a:pPr indent="0" marL="0">
              <a:buNone/>
            </a:pPr>
            <a:r>
              <a:rPr lang="en-US" sz="1400" dirty="0">
                <a:solidFill>
                  <a:schemeClr val="tx1"/>
                </a:solidFill>
              </a:rPr>
              <a:t>Next page, zoom, back to results</a:t>
            </a:r>
            <a:endParaRPr lang="en-US" sz="1400" dirty="0"/>
          </a:p>
        </p:txBody>
      </p:sp>
      <p:sp>
        <p:nvSpPr>
          <p:cNvPr id="15" name="task-5"/>
          <p:cNvSpPr/>
          <p:nvPr/>
        </p:nvSpPr>
        <p:spPr>
          <a:xfrm>
            <a:off x="457200" y="2999232"/>
            <a:ext cx="310896" cy="310896"/>
          </a:xfrm>
          <a:prstGeom prst="ellipse">
            <a:avLst/>
          </a:prstGeom>
          <a:solidFill>
            <a:schemeClr val="accent1"/>
          </a:solidFill>
          <a:ln w="12700">
            <a:solidFill>
              <a:schemeClr val="accent1"/>
            </a:solidFill>
            <a:prstDash val="solid"/>
          </a:ln>
        </p:spPr>
      </p:sp>
      <p:sp>
        <p:nvSpPr>
          <p:cNvPr id="16" name="Text 14"/>
          <p:cNvSpPr txBox="1"/>
          <p:nvPr/>
        </p:nvSpPr>
        <p:spPr>
          <a:xfrm>
            <a:off x="457200" y="2999232"/>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T5</a:t>
            </a:r>
            <a:endParaRPr lang="en-US" sz="1000" dirty="0"/>
          </a:p>
        </p:txBody>
      </p:sp>
      <p:sp>
        <p:nvSpPr>
          <p:cNvPr id="17" name="Text 15"/>
          <p:cNvSpPr txBox="1"/>
          <p:nvPr/>
        </p:nvSpPr>
        <p:spPr>
          <a:xfrm>
            <a:off x="914400" y="2971800"/>
            <a:ext cx="3657600" cy="365760"/>
          </a:xfrm>
          <a:prstGeom prst="rect">
            <a:avLst/>
          </a:prstGeom>
          <a:noFill/>
          <a:ln/>
        </p:spPr>
        <p:txBody>
          <a:bodyPr wrap="square" lIns="0" tIns="0" rIns="0" bIns="0" rtlCol="0" anchor="ctr"/>
          <a:lstStyle/>
          <a:p>
            <a:pPr indent="0" marL="0">
              <a:buNone/>
            </a:pPr>
            <a:r>
              <a:rPr lang="en-US" sz="1400" dirty="0">
                <a:solidFill>
                  <a:schemeClr val="tx1"/>
                </a:solidFill>
              </a:rPr>
              <a:t>Switch interface language</a:t>
            </a:r>
            <a:endParaRPr lang="en-US" sz="1400" dirty="0"/>
          </a:p>
        </p:txBody>
      </p:sp>
      <p:sp>
        <p:nvSpPr>
          <p:cNvPr id="18" name="task-6"/>
          <p:cNvSpPr/>
          <p:nvPr/>
        </p:nvSpPr>
        <p:spPr>
          <a:xfrm>
            <a:off x="457200" y="3456432"/>
            <a:ext cx="310896" cy="310896"/>
          </a:xfrm>
          <a:prstGeom prst="ellipse">
            <a:avLst/>
          </a:prstGeom>
          <a:solidFill>
            <a:schemeClr val="accent1"/>
          </a:solidFill>
          <a:ln w="12700">
            <a:solidFill>
              <a:schemeClr val="accent1"/>
            </a:solidFill>
            <a:prstDash val="solid"/>
          </a:ln>
        </p:spPr>
      </p:sp>
      <p:sp>
        <p:nvSpPr>
          <p:cNvPr id="19" name="Text 17"/>
          <p:cNvSpPr txBox="1"/>
          <p:nvPr/>
        </p:nvSpPr>
        <p:spPr>
          <a:xfrm>
            <a:off x="457200" y="3456432"/>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T6</a:t>
            </a:r>
            <a:endParaRPr lang="en-US" sz="1000" dirty="0"/>
          </a:p>
        </p:txBody>
      </p:sp>
      <p:sp>
        <p:nvSpPr>
          <p:cNvPr id="20" name="Text 18"/>
          <p:cNvSpPr txBox="1"/>
          <p:nvPr/>
        </p:nvSpPr>
        <p:spPr>
          <a:xfrm>
            <a:off x="914400" y="3429000"/>
            <a:ext cx="3657600" cy="365760"/>
          </a:xfrm>
          <a:prstGeom prst="rect">
            <a:avLst/>
          </a:prstGeom>
          <a:noFill/>
          <a:ln/>
        </p:spPr>
        <p:txBody>
          <a:bodyPr wrap="square" lIns="0" tIns="0" rIns="0" bIns="0" rtlCol="0" anchor="ctr"/>
          <a:lstStyle/>
          <a:p>
            <a:pPr indent="0" marL="0">
              <a:buNone/>
            </a:pPr>
            <a:r>
              <a:rPr lang="en-US" sz="1400" dirty="0">
                <a:solidFill>
                  <a:schemeClr val="tx1"/>
                </a:solidFill>
              </a:rPr>
              <a:t>Sign in and upload a document</a:t>
            </a:r>
            <a:endParaRPr lang="en-US" sz="1400" dirty="0"/>
          </a:p>
        </p:txBody>
      </p:sp>
      <p:sp>
        <p:nvSpPr>
          <p:cNvPr id="21" name="task-7"/>
          <p:cNvSpPr/>
          <p:nvPr/>
        </p:nvSpPr>
        <p:spPr>
          <a:xfrm>
            <a:off x="457200" y="3913632"/>
            <a:ext cx="310896" cy="310896"/>
          </a:xfrm>
          <a:prstGeom prst="ellipse">
            <a:avLst/>
          </a:prstGeom>
          <a:solidFill>
            <a:schemeClr val="accent1"/>
          </a:solidFill>
          <a:ln w="12700">
            <a:solidFill>
              <a:schemeClr val="accent1"/>
            </a:solidFill>
            <a:prstDash val="solid"/>
          </a:ln>
        </p:spPr>
      </p:sp>
      <p:sp>
        <p:nvSpPr>
          <p:cNvPr id="22" name="Text 20"/>
          <p:cNvSpPr txBox="1"/>
          <p:nvPr/>
        </p:nvSpPr>
        <p:spPr>
          <a:xfrm>
            <a:off x="457200" y="3913632"/>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T7</a:t>
            </a:r>
            <a:endParaRPr lang="en-US" sz="1000" dirty="0"/>
          </a:p>
        </p:txBody>
      </p:sp>
      <p:sp>
        <p:nvSpPr>
          <p:cNvPr id="23" name="Text 21"/>
          <p:cNvSpPr txBox="1"/>
          <p:nvPr/>
        </p:nvSpPr>
        <p:spPr>
          <a:xfrm>
            <a:off x="914400" y="3886200"/>
            <a:ext cx="3657600" cy="365760"/>
          </a:xfrm>
          <a:prstGeom prst="rect">
            <a:avLst/>
          </a:prstGeom>
          <a:noFill/>
          <a:ln/>
        </p:spPr>
        <p:txBody>
          <a:bodyPr wrap="square" lIns="0" tIns="0" rIns="0" bIns="0" rtlCol="0" anchor="ctr"/>
          <a:lstStyle/>
          <a:p>
            <a:pPr indent="0" marL="0">
              <a:buNone/>
            </a:pPr>
            <a:r>
              <a:rPr lang="en-US" sz="1400" dirty="0">
                <a:solidFill>
                  <a:schemeClr val="tx1"/>
                </a:solidFill>
              </a:rPr>
              <a:t>Delete the test document</a:t>
            </a:r>
            <a:endParaRPr lang="en-US" sz="1400" dirty="0"/>
          </a:p>
        </p:txBody>
      </p:sp>
      <p:sp>
        <p:nvSpPr>
          <p:cNvPr id="24" name="uat-panel"/>
          <p:cNvSpPr/>
          <p:nvPr/>
        </p:nvSpPr>
        <p:spPr>
          <a:xfrm>
            <a:off x="4937760" y="1143000"/>
            <a:ext cx="3749040" cy="3154680"/>
          </a:xfrm>
          <a:prstGeom prst="roundRect">
            <a:avLst>
              <a:gd name="adj" fmla="val 2319"/>
            </a:avLst>
          </a:prstGeom>
          <a:solidFill>
            <a:schemeClr val="bg2"/>
          </a:solidFill>
          <a:ln w="12700">
            <a:solidFill>
              <a:schemeClr val="bg2"/>
            </a:solidFill>
            <a:prstDash val="solid"/>
          </a:ln>
        </p:spPr>
      </p:sp>
      <p:sp>
        <p:nvSpPr>
          <p:cNvPr id="25" name="Text 23"/>
          <p:cNvSpPr txBox="1"/>
          <p:nvPr/>
        </p:nvSpPr>
        <p:spPr>
          <a:xfrm>
            <a:off x="5166360" y="1280160"/>
            <a:ext cx="3291840" cy="320040"/>
          </a:xfrm>
          <a:prstGeom prst="rect">
            <a:avLst/>
          </a:prstGeom>
          <a:noFill/>
          <a:ln/>
        </p:spPr>
        <p:txBody>
          <a:bodyPr wrap="square" lIns="0" tIns="0" rIns="0" bIns="0" rtlCol="0" anchor="t"/>
          <a:lstStyle/>
          <a:p>
            <a:pPr indent="0" marL="0">
              <a:buNone/>
            </a:pPr>
            <a:r>
              <a:rPr lang="en-US" sz="1600" b="1" dirty="0">
                <a:solidFill>
                  <a:schemeClr val="tx1"/>
                </a:solidFill>
              </a:rPr>
              <a:t>How it is measured</a:t>
            </a:r>
            <a:endParaRPr lang="en-US" sz="1600" dirty="0"/>
          </a:p>
        </p:txBody>
      </p:sp>
      <p:sp>
        <p:nvSpPr>
          <p:cNvPr id="26" name="Text 24"/>
          <p:cNvSpPr txBox="1"/>
          <p:nvPr/>
        </p:nvSpPr>
        <p:spPr>
          <a:xfrm>
            <a:off x="5166360" y="1691640"/>
            <a:ext cx="329184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5 to 8 participants, individual 25-minute sessions</a:t>
            </a:r>
            <a:endParaRPr lang="en-US" sz="1300" dirty="0"/>
          </a:p>
          <a:p>
            <a:pPr marL="342900" indent="-342900">
              <a:spcAft>
                <a:spcPts val="600"/>
              </a:spcAft>
              <a:buSzPct val="100000"/>
              <a:buChar char="•"/>
            </a:pPr>
            <a:r>
              <a:rPr lang="en-US" sz="1300" dirty="0">
                <a:solidFill>
                  <a:schemeClr val="tx1"/>
                </a:solidFill>
              </a:rPr>
              <a:t>Task success, time and errors per task</a:t>
            </a:r>
            <a:endParaRPr lang="en-US" sz="1300" dirty="0"/>
          </a:p>
          <a:p>
            <a:pPr marL="342900" indent="-342900">
              <a:spcAft>
                <a:spcPts val="600"/>
              </a:spcAft>
              <a:buSzPct val="100000"/>
              <a:buChar char="•"/>
            </a:pPr>
            <a:r>
              <a:rPr lang="en-US" sz="1300" dirty="0">
                <a:solidFill>
                  <a:schemeClr val="tx1"/>
                </a:solidFill>
              </a:rPr>
              <a:t>10-item System Usability Scale, scored 0 to 100</a:t>
            </a:r>
            <a:endParaRPr lang="en-US" sz="1300" dirty="0"/>
          </a:p>
          <a:p>
            <a:pPr marL="342900" indent="-342900">
              <a:spcAft>
                <a:spcPts val="600"/>
              </a:spcAft>
              <a:buSzPct val="100000"/>
              <a:buChar char="•"/>
            </a:pPr>
            <a:r>
              <a:rPr lang="en-US" sz="1300" dirty="0">
                <a:solidFill>
                  <a:schemeClr val="tx1"/>
                </a:solidFill>
              </a:rPr>
              <a:t>Targets: success 80% or more, SUS 68 or more</a:t>
            </a:r>
            <a:endParaRPr lang="en-US" sz="1300" dirty="0"/>
          </a:p>
        </p:txBody>
      </p:sp>
      <p:sp>
        <p:nvSpPr>
          <p:cNvPr id="27" name="icon-circle"/>
          <p:cNvSpPr/>
          <p:nvPr/>
        </p:nvSpPr>
        <p:spPr>
          <a:xfrm>
            <a:off x="5166360" y="3611880"/>
            <a:ext cx="365760" cy="365760"/>
          </a:xfrm>
          <a:prstGeom prst="ellipse">
            <a:avLst/>
          </a:prstGeom>
          <a:solidFill>
            <a:schemeClr val="accent2"/>
          </a:solidFill>
          <a:ln w="12700">
            <a:solidFill>
              <a:schemeClr val="accent2"/>
            </a:solidFill>
            <a:prstDash val="solid"/>
          </a:ln>
        </p:spPr>
      </p:sp>
      <p:pic>
        <p:nvPicPr>
          <p:cNvPr id="28" name="Image 0" descr="icon">    </p:cNvPr>
          <p:cNvPicPr>
            <a:picLocks noChangeAspect="1"/>
          </p:cNvPicPr>
          <p:nvPr/>
        </p:nvPicPr>
        <p:blipFill>
          <a:blip r:embed="rId1"/>
          <a:stretch>
            <a:fillRect/>
          </a:stretch>
        </p:blipFill>
        <p:spPr>
          <a:xfrm>
            <a:off x="5257800" y="3703320"/>
            <a:ext cx="182880" cy="182880"/>
          </a:xfrm>
          <a:prstGeom prst="rect">
            <a:avLst/>
          </a:prstGeom>
        </p:spPr>
      </p:pic>
      <p:sp>
        <p:nvSpPr>
          <p:cNvPr id="29" name="Text 26"/>
          <p:cNvSpPr txBox="1"/>
          <p:nvPr/>
        </p:nvSpPr>
        <p:spPr>
          <a:xfrm>
            <a:off x="5669280" y="3566160"/>
            <a:ext cx="2834640" cy="502920"/>
          </a:xfrm>
          <a:prstGeom prst="rect">
            <a:avLst/>
          </a:prstGeom>
          <a:noFill/>
          <a:ln/>
        </p:spPr>
        <p:txBody>
          <a:bodyPr wrap="square" lIns="0" tIns="0" rIns="0" bIns="0" rtlCol="0" anchor="ctr"/>
          <a:lstStyle/>
          <a:p>
            <a:pPr indent="0" marL="0">
              <a:buNone/>
            </a:pPr>
            <a:r>
              <a:rPr lang="en-US" sz="1200" b="1" dirty="0">
                <a:solidFill>
                  <a:schemeClr val="tx1"/>
                </a:solidFill>
              </a:rPr>
              <a:t>Sessions pending. Results are reported only from real participants.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Limitations and future work</a:t>
            </a:r>
            <a:endParaRPr lang="en-US" sz="3000" dirty="0"/>
          </a:p>
        </p:txBody>
      </p:sp>
      <p:sp>
        <p:nvSpPr>
          <p:cNvPr id="3" name="Limitations"/>
          <p:cNvSpPr/>
          <p:nvPr/>
        </p:nvSpPr>
        <p:spPr>
          <a:xfrm>
            <a:off x="457200" y="1188720"/>
            <a:ext cx="4023360" cy="2651760"/>
          </a:xfrm>
          <a:prstGeom prst="roundRect">
            <a:avLst>
              <a:gd name="adj" fmla="val 2759"/>
            </a:avLst>
          </a:prstGeom>
          <a:solidFill>
            <a:schemeClr val="bg2"/>
          </a:solidFill>
          <a:ln w="12700">
            <a:solidFill>
              <a:schemeClr val="bg2"/>
            </a:solidFill>
            <a:prstDash val="solid"/>
          </a:ln>
        </p:spPr>
      </p:sp>
      <p:sp>
        <p:nvSpPr>
          <p:cNvPr id="4" name="Text 2"/>
          <p:cNvSpPr txBox="1"/>
          <p:nvPr/>
        </p:nvSpPr>
        <p:spPr>
          <a:xfrm>
            <a:off x="685800" y="1325880"/>
            <a:ext cx="3566160" cy="320040"/>
          </a:xfrm>
          <a:prstGeom prst="rect">
            <a:avLst/>
          </a:prstGeom>
          <a:noFill/>
          <a:ln/>
        </p:spPr>
        <p:txBody>
          <a:bodyPr wrap="square" lIns="0" tIns="0" rIns="0" bIns="0" rtlCol="0" anchor="t"/>
          <a:lstStyle/>
          <a:p>
            <a:pPr indent="0" marL="0">
              <a:buNone/>
            </a:pPr>
            <a:r>
              <a:rPr lang="en-US" sz="1600" b="1" dirty="0">
                <a:solidFill>
                  <a:schemeClr val="tx1"/>
                </a:solidFill>
              </a:rPr>
              <a:t>Limitations</a:t>
            </a:r>
            <a:endParaRPr lang="en-US" sz="1600" dirty="0"/>
          </a:p>
        </p:txBody>
      </p:sp>
      <p:sp>
        <p:nvSpPr>
          <p:cNvPr id="5" name="Text 3"/>
          <p:cNvSpPr txBox="1"/>
          <p:nvPr/>
        </p:nvSpPr>
        <p:spPr>
          <a:xfrm>
            <a:off x="685800" y="178308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Printed text only; no handwriting or camera capture</a:t>
            </a:r>
            <a:endParaRPr lang="en-US" sz="1400" dirty="0"/>
          </a:p>
          <a:p>
            <a:pPr marL="342900" indent="-342900">
              <a:spcAft>
                <a:spcPts val="600"/>
              </a:spcAft>
              <a:buSzPct val="100000"/>
              <a:buChar char="•"/>
            </a:pPr>
            <a:r>
              <a:rPr lang="en-US" sz="1400" dirty="0">
                <a:solidFill>
                  <a:schemeClr val="tx1"/>
                </a:solidFill>
              </a:rPr>
              <a:t>One highlight box per chunk, not per line</a:t>
            </a:r>
            <a:endParaRPr lang="en-US" sz="1400" dirty="0"/>
          </a:p>
          <a:p>
            <a:pPr marL="342900" indent="-342900">
              <a:spcAft>
                <a:spcPts val="600"/>
              </a:spcAft>
              <a:buSzPct val="100000"/>
              <a:buChar char="•"/>
            </a:pPr>
            <a:r>
              <a:rPr lang="en-US" sz="1400" dirty="0">
                <a:solidFill>
                  <a:schemeClr val="tx1"/>
                </a:solidFill>
              </a:rPr>
              <a:t>UAT sample of 5 to 8 users shows major problems, not statistics</a:t>
            </a:r>
            <a:endParaRPr lang="en-US" sz="1400" dirty="0"/>
          </a:p>
          <a:p>
            <a:pPr marL="342900" indent="-342900">
              <a:spcAft>
                <a:spcPts val="600"/>
              </a:spcAft>
              <a:buSzPct val="100000"/>
              <a:buChar char="•"/>
            </a:pPr>
            <a:r>
              <a:rPr lang="en-US" sz="1400" dirty="0">
                <a:solidFill>
                  <a:schemeClr val="tx1"/>
                </a:solidFill>
              </a:rPr>
              <a:t>Free-tier compute limits model size</a:t>
            </a:r>
            <a:endParaRPr lang="en-US" sz="1400" dirty="0"/>
          </a:p>
        </p:txBody>
      </p:sp>
      <p:sp>
        <p:nvSpPr>
          <p:cNvPr id="6" name="Next steps"/>
          <p:cNvSpPr/>
          <p:nvPr/>
        </p:nvSpPr>
        <p:spPr>
          <a:xfrm>
            <a:off x="4663440" y="1188720"/>
            <a:ext cx="4023360" cy="2651760"/>
          </a:xfrm>
          <a:prstGeom prst="roundRect">
            <a:avLst>
              <a:gd name="adj" fmla="val 2759"/>
            </a:avLst>
          </a:prstGeom>
          <a:solidFill>
            <a:schemeClr val="accent4"/>
          </a:solidFill>
          <a:ln w="12700">
            <a:solidFill>
              <a:schemeClr val="accent4"/>
            </a:solidFill>
            <a:prstDash val="solid"/>
          </a:ln>
        </p:spPr>
      </p:sp>
      <p:sp>
        <p:nvSpPr>
          <p:cNvPr id="7" name="Text 5"/>
          <p:cNvSpPr txBox="1"/>
          <p:nvPr/>
        </p:nvSpPr>
        <p:spPr>
          <a:xfrm>
            <a:off x="4892040" y="1325880"/>
            <a:ext cx="3566160" cy="320040"/>
          </a:xfrm>
          <a:prstGeom prst="rect">
            <a:avLst/>
          </a:prstGeom>
          <a:noFill/>
          <a:ln/>
        </p:spPr>
        <p:txBody>
          <a:bodyPr wrap="square" lIns="0" tIns="0" rIns="0" bIns="0" rtlCol="0" anchor="t"/>
          <a:lstStyle/>
          <a:p>
            <a:pPr indent="0" marL="0">
              <a:buNone/>
            </a:pPr>
            <a:r>
              <a:rPr lang="en-US" sz="1600" b="1" dirty="0">
                <a:solidFill>
                  <a:schemeClr val="tx1"/>
                </a:solidFill>
              </a:rPr>
              <a:t>Next steps</a:t>
            </a:r>
            <a:endParaRPr lang="en-US" sz="1600" dirty="0"/>
          </a:p>
        </p:txBody>
      </p:sp>
      <p:sp>
        <p:nvSpPr>
          <p:cNvPr id="8" name="Text 6"/>
          <p:cNvSpPr txBox="1"/>
          <p:nvPr/>
        </p:nvSpPr>
        <p:spPr>
          <a:xfrm>
            <a:off x="4892040" y="178308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Line-level highlight boxes</a:t>
            </a:r>
            <a:endParaRPr lang="en-US" sz="1400" dirty="0"/>
          </a:p>
          <a:p>
            <a:pPr marL="342900" indent="-342900">
              <a:spcAft>
                <a:spcPts val="600"/>
              </a:spcAft>
              <a:buSzPct val="100000"/>
              <a:buChar char="•"/>
            </a:pPr>
            <a:r>
              <a:rPr lang="en-US" sz="1400" dirty="0">
                <a:solidFill>
                  <a:schemeClr val="tx1"/>
                </a:solidFill>
              </a:rPr>
              <a:t>Show recognized text beside the page image</a:t>
            </a:r>
            <a:endParaRPr lang="en-US" sz="1400" dirty="0"/>
          </a:p>
          <a:p>
            <a:pPr marL="342900" indent="-342900">
              <a:spcAft>
                <a:spcPts val="600"/>
              </a:spcAft>
              <a:buSzPct val="100000"/>
              <a:buChar char="•"/>
            </a:pPr>
            <a:r>
              <a:rPr lang="en-US" sz="1400" dirty="0">
                <a:solidFill>
                  <a:schemeClr val="tx1"/>
                </a:solidFill>
              </a:rPr>
              <a:t>Filters by document and date, result pagination</a:t>
            </a:r>
            <a:endParaRPr lang="en-US" sz="1400" dirty="0"/>
          </a:p>
          <a:p>
            <a:pPr marL="342900" indent="-342900">
              <a:spcAft>
                <a:spcPts val="600"/>
              </a:spcAft>
              <a:buSzPct val="100000"/>
              <a:buChar char="•"/>
            </a:pPr>
            <a:r>
              <a:rPr lang="en-US" sz="1400" dirty="0">
                <a:solidFill>
                  <a:schemeClr val="tx1"/>
                </a:solidFill>
              </a:rPr>
              <a:t>Token refresh for long admin sessions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005840"/>
          </a:xfrm>
          <a:prstGeom prst="rect">
            <a:avLst/>
          </a:prstGeom>
          <a:noFill/>
          <a:ln/>
        </p:spPr>
        <p:txBody>
          <a:bodyPr wrap="square" lIns="0" tIns="0" rIns="0" bIns="0" rtlCol="0" anchor="ctr"/>
          <a:lstStyle/>
          <a:p>
            <a:pPr algn="l" indent="0" marL="0">
              <a:buNone/>
            </a:pPr>
            <a:r>
              <a:rPr lang="en-US" sz="4000" b="1" dirty="0">
                <a:solidFill>
                  <a:schemeClr val="bg1"/>
                </a:solidFill>
              </a:rPr>
              <a:t>Type a question in Amharic. See the passage on the page image.</a:t>
            </a:r>
            <a:endParaRPr lang="en-US" sz="4000" dirty="0"/>
          </a:p>
        </p:txBody>
      </p:sp>
      <p:sp>
        <p:nvSpPr>
          <p:cNvPr id="3" name="Text 1"/>
          <p:cNvSpPr txBox="1"/>
          <p:nvPr/>
        </p:nvSpPr>
        <p:spPr>
          <a:xfrm>
            <a:off x="548640" y="2743200"/>
            <a:ext cx="8046720" cy="457200"/>
          </a:xfrm>
          <a:prstGeom prst="rect">
            <a:avLst/>
          </a:prstGeom>
          <a:noFill/>
          <a:ln/>
        </p:spPr>
        <p:txBody>
          <a:bodyPr wrap="square" lIns="0" tIns="0" rIns="0" bIns="0" rtlCol="0" anchor="t"/>
          <a:lstStyle/>
          <a:p>
            <a:pPr indent="0" marL="0">
              <a:buNone/>
            </a:pPr>
            <a:r>
              <a:rPr lang="en-US" sz="2200" b="1" dirty="0">
                <a:solidFill>
                  <a:schemeClr val="accent2"/>
                </a:solidFill>
              </a:rPr>
              <a:t>Thank you. Questions?</a:t>
            </a:r>
            <a:endParaRPr lang="en-US" sz="2200" dirty="0"/>
          </a:p>
        </p:txBody>
      </p:sp>
      <p:sp>
        <p:nvSpPr>
          <p:cNvPr id="4" name="Text 2"/>
          <p:cNvSpPr txBox="1"/>
          <p:nvPr/>
        </p:nvSpPr>
        <p:spPr>
          <a:xfrm>
            <a:off x="548640" y="3474720"/>
            <a:ext cx="8046720" cy="365760"/>
          </a:xfrm>
          <a:prstGeom prst="rect">
            <a:avLst/>
          </a:prstGeom>
          <a:noFill/>
          <a:ln/>
        </p:spPr>
        <p:txBody>
          <a:bodyPr wrap="square" lIns="0" tIns="0" rIns="0" bIns="0" rtlCol="0" anchor="t"/>
          <a:lstStyle/>
          <a:p>
            <a:pPr indent="0" marL="0">
              <a:buNone/>
            </a:pPr>
            <a:r>
              <a:rPr lang="en-US" sz="1400" dirty="0">
                <a:solidFill>
                  <a:schemeClr val="bg2"/>
                </a:solidFill>
              </a:rPr>
              <a:t>Kibreab Dawit   Ferid Hamza   Semir Sultan   Yassin Bedru</a:t>
            </a:r>
            <a:endParaRPr lang="en-US" sz="1400" dirty="0"/>
          </a:p>
        </p:txBody>
      </p:sp>
    </p:spTree>
  </p:cSld>
  <p:clrMapOvr>
    <a:masterClrMapping/>
  </p:clrMapOvr>
</p:sld>
</file>

<file path=ppt/theme/theme1.xml><?xml version="1.0" encoding="utf-8"?>
<a:theme xmlns:a="http://schemas.openxmlformats.org/drawingml/2006/main" name="Amharic Archive">
  <a:themeElements>
    <a:clrScheme name="Amharic Archive">
      <a:dk1>
        <a:srgbClr val="18262B"/>
      </a:dk1>
      <a:lt1>
        <a:srgbClr val="FFFFFF"/>
      </a:lt1>
      <a:dk2>
        <a:srgbClr val="0E6A68"/>
      </a:dk2>
      <a:lt2>
        <a:srgbClr val="EAEFEA"/>
      </a:lt2>
      <a:accent1>
        <a:srgbClr val="0E6A68"/>
      </a:accent1>
      <a:accent2>
        <a:srgbClr val="F5B700"/>
      </a:accent2>
      <a:accent3>
        <a:srgbClr val="5B6B70"/>
      </a:accent3>
      <a:accent4>
        <a:srgbClr val="D6EBE9"/>
      </a:accent4>
      <a:accent5>
        <a:srgbClr val="B3261E"/>
      </a:accent5>
      <a:accent6>
        <a:srgbClr val="0A4F4D"/>
      </a:accent6>
      <a:hlink>
        <a:srgbClr val="0E6A68"/>
      </a:hlink>
      <a:folHlink>
        <a:srgbClr val="5B6B70"/>
      </a:folHlink>
    </a:clrScheme>
    <a:fontScheme name="Amharic Arch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Amharic Document Digitization and Semantic Retrieval System: Final Defense</dc:title>
  <dc:subject>PptxGenJS Presentation</dc:subject>
  <dc:creator>Kibreab Dawit, Ferid Hamza, Semir Sultan, Yassin Bedru</dc:creator>
  <cp:lastModifiedBy>Kibreab Dawit, Ferid Hamza, Semir Sultan, Yassin Bedru</cp:lastModifiedBy>
  <cp:revision>1</cp:revision>
  <dcterms:created xsi:type="dcterms:W3CDTF">2026-10-21T19:31:10Z</dcterms:created>
  <dcterms:modified xsi:type="dcterms:W3CDTF">2026-10-21T19:31:10Z</dcterms:modified>
</cp:coreProperties>
</file>